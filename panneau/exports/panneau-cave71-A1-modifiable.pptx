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548" y="1931458"/>
            <a:ext cx="11036903" cy="3133158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345122"/>
            <a:ext cx="21384000" cy="26902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118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5483961"/>
            <a:ext cx="21384000" cy="103470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8147"/>
              </a:lnSpc>
            </a:pPr>
            <a:r>
              <a:rPr sz="8147" b="0" i="1">
                <a:solidFill>
                  <a:srgbClr val="F4ECE0"/>
                </a:solidFill>
                <a:latin typeface="Cormorant Garamond"/>
                <a:cs typeface="Cormorant Garamond"/>
              </a:rPr>
              <a:t>Vins, spiritueux </a:t>
            </a:r>
            <a:r>
              <a:rPr sz="8147" b="0" i="1">
                <a:solidFill>
                  <a:srgbClr val="CFA548"/>
                </a:solidFill>
                <a:latin typeface="Cormorant Garamond"/>
                <a:cs typeface="Cormorant Garamond"/>
              </a:rPr>
              <a:t>&amp;</a:t>
            </a:r>
            <a:r>
              <a:rPr sz="8147" b="0" i="1">
                <a:solidFill>
                  <a:srgbClr val="F4ECE0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760103"/>
            <a:ext cx="21384000" cy="25867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036"/>
              </a:lnSpc>
            </a:pPr>
            <a:r>
              <a:rPr sz="1697" b="1" i="0" spc="679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7242967" y="22142787"/>
            <a:ext cx="6898064" cy="26902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118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2828206" y="22901574"/>
            <a:ext cx="4828645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8915748" y="22901574"/>
            <a:ext cx="4828645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 œnologiques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&amp; découvertes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15003290" y="22901574"/>
            <a:ext cx="4828645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5880600" y="24246696"/>
            <a:ext cx="4828645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Conseil &amp; élaboration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de votre carte des vins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1968141" y="24246696"/>
            <a:ext cx="5173548" cy="101746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26"/>
              </a:lnSpc>
            </a:pPr>
            <a:r>
              <a:rPr sz="3666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Célébrations, mariages</a:t>
            </a:r>
          </a:p>
          <a:p>
            <a:pPr algn="l">
              <a:lnSpc>
                <a:spcPts val="3685"/>
              </a:lnSpc>
            </a:pPr>
            <a:r>
              <a:rPr sz="3123" b="0" i="1">
                <a:solidFill>
                  <a:srgbClr val="E6CF98"/>
                </a:solidFill>
                <a:latin typeface="Cormorant Garamond"/>
                <a:cs typeface="Cormorant Garamond"/>
              </a:rPr>
              <a:t>&amp; événementiel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552064" y="26040193"/>
            <a:ext cx="5690903" cy="26902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118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552064" y="26523058"/>
            <a:ext cx="6208258" cy="10140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992"/>
              </a:lnSpc>
            </a:pPr>
            <a:r>
              <a:rPr sz="2851" b="1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l">
              <a:lnSpc>
                <a:spcPts val="3992"/>
              </a:lnSpc>
            </a:pPr>
            <a:r>
              <a:rPr sz="2851" b="1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552064" y="27695729"/>
            <a:ext cx="6208258" cy="28971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281"/>
              </a:lnSpc>
            </a:pPr>
            <a:r>
              <a:rPr sz="1901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7587870" y="26040193"/>
            <a:ext cx="6208258" cy="26902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118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7242967" y="26557548"/>
            <a:ext cx="6898064" cy="43457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21"/>
              </a:lnSpc>
            </a:pPr>
            <a:r>
              <a:rPr sz="2851" b="1" i="0">
                <a:solidFill>
                  <a:srgbClr val="F4ECE0"/>
                </a:solidFill>
                <a:latin typeface="Montserrat"/>
                <a:cs typeface="Montserrat"/>
              </a:rPr>
              <a:t>10h – 13h </a:t>
            </a:r>
            <a:r>
              <a:rPr sz="2851" b="1" i="0">
                <a:solidFill>
                  <a:srgbClr val="CFA548"/>
                </a:solidFill>
                <a:latin typeface="Montserrat"/>
                <a:cs typeface="Montserrat"/>
              </a:rPr>
              <a:t>·</a:t>
            </a:r>
            <a:r>
              <a:rPr sz="2851" b="1" i="0">
                <a:solidFill>
                  <a:srgbClr val="F4ECE0"/>
                </a:solidFill>
                <a:latin typeface="Montserrat"/>
                <a:cs typeface="Montserrat"/>
              </a:rPr>
              <a:t>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7587870" y="27212864"/>
            <a:ext cx="6208258" cy="620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888"/>
              </a:lnSpc>
            </a:pPr>
            <a:r>
              <a:rPr sz="4073" b="1" i="0" spc="272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"/>
          <p:cNvSpPr txBox="1"/>
          <p:nvPr/>
        </p:nvSpPr>
        <p:spPr>
          <a:xfrm>
            <a:off x="12554477" y="26040193"/>
            <a:ext cx="5173548" cy="17805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ts val="3089"/>
              </a:lnSpc>
            </a:pPr>
            <a:r>
              <a:rPr sz="1765" b="1" i="0" spc="570">
                <a:solidFill>
                  <a:srgbClr val="CFA548"/>
                </a:solidFill>
                <a:latin typeface="Montserrat"/>
                <a:cs typeface="Montserrat"/>
              </a:rPr>
              <a:t>EN LIGNE</a:t>
            </a:r>
          </a:p>
          <a:p>
            <a:pPr algn="r">
              <a:lnSpc>
                <a:spcPts val="4039"/>
              </a:lnSpc>
            </a:pPr>
            <a:r>
              <a:rPr sz="2308" b="1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  <a:p>
            <a:pPr algn="r">
              <a:lnSpc>
                <a:spcPts val="3445"/>
              </a:lnSpc>
            </a:pPr>
            <a:r>
              <a:rPr sz="1968" b="0" i="0">
                <a:solidFill>
                  <a:srgbClr val="F4ECE0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r">
              <a:lnSpc>
                <a:spcPts val="3445"/>
              </a:lnSpc>
            </a:pPr>
            <a:r>
              <a:rPr sz="1968" b="0" i="0">
                <a:solidFill>
                  <a:srgbClr val="F4ECE0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0" name="mention-legale"/>
          <p:cNvSpPr txBox="1"/>
          <p:nvPr/>
        </p:nvSpPr>
        <p:spPr>
          <a:xfrm>
            <a:off x="0" y="29109832"/>
            <a:ext cx="21384000" cy="25867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036"/>
              </a:lnSpc>
            </a:pPr>
            <a:r>
              <a:rPr sz="1697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