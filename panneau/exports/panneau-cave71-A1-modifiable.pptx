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480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48012"/>
          </a:xfrm>
          <a:prstGeom prst="rect">
            <a:avLst/>
          </a:prstGeom>
        </p:spPr>
      </p:pic>
      <p:pic>
        <p:nvPicPr>
          <p:cNvPr id="3" name="Picture 2" descr="logo_cave71_bl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38" y="1690025"/>
            <a:ext cx="13106322" cy="2621264"/>
          </a:xfrm>
          <a:prstGeom prst="rect">
            <a:avLst/>
          </a:prstGeom>
        </p:spPr>
      </p:pic>
      <p:sp>
        <p:nvSpPr>
          <p:cNvPr id="4" name="surtitre"/>
          <p:cNvSpPr txBox="1"/>
          <p:nvPr/>
        </p:nvSpPr>
        <p:spPr>
          <a:xfrm>
            <a:off x="0" y="1034709"/>
            <a:ext cx="21384000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70"/>
              </a:lnSpc>
            </a:pPr>
            <a:r>
              <a:rPr sz="2308" b="0" i="0" spc="679">
                <a:solidFill>
                  <a:srgbClr val="CFA548"/>
                </a:solidFill>
                <a:latin typeface="Montserrat"/>
                <a:cs typeface="Montserrat"/>
              </a:rPr>
              <a:t>VOTRE CAVISTE À REZÉ</a:t>
            </a:r>
          </a:p>
        </p:txBody>
      </p:sp>
      <p:sp>
        <p:nvSpPr>
          <p:cNvPr id="5" name="titre"/>
          <p:cNvSpPr txBox="1"/>
          <p:nvPr/>
        </p:nvSpPr>
        <p:spPr>
          <a:xfrm>
            <a:off x="0" y="4552722"/>
            <a:ext cx="21384000" cy="141410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11134"/>
              </a:lnSpc>
            </a:pPr>
            <a:r>
              <a:rPr sz="11134" b="0" i="1">
                <a:solidFill>
                  <a:srgbClr val="F4ECE0"/>
                </a:solidFill>
                <a:latin typeface="Cormorant Garamond"/>
                <a:cs typeface="Cormorant Garamond"/>
              </a:rPr>
              <a:t>Vins, bières, spiritueux </a:t>
            </a:r>
            <a:r>
              <a:rPr sz="11134" b="0" i="1">
                <a:solidFill>
                  <a:srgbClr val="CFA548"/>
                </a:solidFill>
                <a:latin typeface="Cormorant Garamond"/>
                <a:cs typeface="Cormorant Garamond"/>
              </a:rPr>
              <a:t>&amp;</a:t>
            </a:r>
            <a:r>
              <a:rPr sz="11134" b="0" i="1">
                <a:solidFill>
                  <a:srgbClr val="F4ECE0"/>
                </a:solidFill>
                <a:latin typeface="Cormorant Garamond"/>
                <a:cs typeface="Cormorant Garamond"/>
              </a:rPr>
              <a:t> épicerie fine</a:t>
            </a:r>
          </a:p>
        </p:txBody>
      </p:sp>
      <p:sp>
        <p:nvSpPr>
          <p:cNvPr id="6" name="sous-titre"/>
          <p:cNvSpPr txBox="1"/>
          <p:nvPr/>
        </p:nvSpPr>
        <p:spPr>
          <a:xfrm>
            <a:off x="0" y="6346219"/>
            <a:ext cx="21384000" cy="47596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747"/>
              </a:lnSpc>
            </a:pPr>
            <a:r>
              <a:rPr sz="3123" b="0" i="0" spc="815">
                <a:solidFill>
                  <a:srgbClr val="E6CF98"/>
                </a:solidFill>
                <a:latin typeface="Montserrat"/>
                <a:cs typeface="Montserrat"/>
              </a:rPr>
              <a:t>DOMAINES · DISTILLERIES · ARTISANS DU TERROIR</a:t>
            </a:r>
          </a:p>
        </p:txBody>
      </p:sp>
      <p:sp>
        <p:nvSpPr>
          <p:cNvPr id="7" name="services-titre"/>
          <p:cNvSpPr txBox="1"/>
          <p:nvPr/>
        </p:nvSpPr>
        <p:spPr>
          <a:xfrm>
            <a:off x="6380709" y="18866206"/>
            <a:ext cx="8622580" cy="45527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584"/>
              </a:lnSpc>
            </a:pPr>
            <a:r>
              <a:rPr sz="2987" b="1" i="0" spc="815">
                <a:solidFill>
                  <a:srgbClr val="CFA548"/>
                </a:solidFill>
                <a:latin typeface="Montserrat"/>
                <a:cs typeface="Montserrat"/>
              </a:rPr>
              <a:t>À LA CAVE 71</a:t>
            </a:r>
          </a:p>
        </p:txBody>
      </p:sp>
      <p:sp>
        <p:nvSpPr>
          <p:cNvPr id="8" name="service-1"/>
          <p:cNvSpPr txBox="1"/>
          <p:nvPr/>
        </p:nvSpPr>
        <p:spPr>
          <a:xfrm>
            <a:off x="1207161" y="21004606"/>
            <a:ext cx="3793935" cy="11899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153"/>
              </a:lnSpc>
            </a:pPr>
            <a:r>
              <a:rPr sz="4481" b="1" i="0">
                <a:solidFill>
                  <a:srgbClr val="F4ECE0"/>
                </a:solidFill>
                <a:latin typeface="Cormorant Garamond"/>
                <a:cs typeface="Cormorant Garamond"/>
              </a:rPr>
              <a:t>Coffrets</a:t>
            </a:r>
          </a:p>
          <a:p>
            <a:pPr algn="ctr">
              <a:lnSpc>
                <a:spcPts val="4216"/>
              </a:lnSpc>
            </a:pPr>
            <a:r>
              <a:rPr sz="3666" b="0" i="1">
                <a:solidFill>
                  <a:srgbClr val="E6CF98"/>
                </a:solidFill>
                <a:latin typeface="Cormorant Garamond"/>
                <a:cs typeface="Cormorant Garamond"/>
              </a:rPr>
              <a:t>&amp; idées cadeaux</a:t>
            </a:r>
          </a:p>
        </p:txBody>
      </p:sp>
      <p:sp>
        <p:nvSpPr>
          <p:cNvPr id="9" name="service-2"/>
          <p:cNvSpPr txBox="1"/>
          <p:nvPr/>
        </p:nvSpPr>
        <p:spPr>
          <a:xfrm>
            <a:off x="5001096" y="21004606"/>
            <a:ext cx="3793935" cy="11899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153"/>
              </a:lnSpc>
            </a:pPr>
            <a:r>
              <a:rPr sz="4481" b="1" i="0">
                <a:solidFill>
                  <a:srgbClr val="F4ECE0"/>
                </a:solidFill>
                <a:latin typeface="Cormorant Garamond"/>
                <a:cs typeface="Cormorant Garamond"/>
              </a:rPr>
              <a:t>Soirées</a:t>
            </a:r>
          </a:p>
          <a:p>
            <a:pPr algn="ctr">
              <a:lnSpc>
                <a:spcPts val="4216"/>
              </a:lnSpc>
            </a:pPr>
            <a:r>
              <a:rPr sz="3666" b="0" i="1">
                <a:solidFill>
                  <a:srgbClr val="E6CF98"/>
                </a:solidFill>
                <a:latin typeface="Cormorant Garamond"/>
                <a:cs typeface="Cormorant Garamond"/>
              </a:rPr>
              <a:t>œnologiques</a:t>
            </a:r>
          </a:p>
        </p:txBody>
      </p:sp>
      <p:sp>
        <p:nvSpPr>
          <p:cNvPr id="10" name="service-3"/>
          <p:cNvSpPr txBox="1"/>
          <p:nvPr/>
        </p:nvSpPr>
        <p:spPr>
          <a:xfrm>
            <a:off x="8795032" y="21004606"/>
            <a:ext cx="3793935" cy="11899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153"/>
              </a:lnSpc>
            </a:pPr>
            <a:r>
              <a:rPr sz="4481" b="1" i="0">
                <a:solidFill>
                  <a:srgbClr val="F4ECE0"/>
                </a:solidFill>
                <a:latin typeface="Cormorant Garamond"/>
                <a:cs typeface="Cormorant Garamond"/>
              </a:rPr>
              <a:t>Achat &amp; conseil</a:t>
            </a:r>
          </a:p>
          <a:p>
            <a:pPr algn="ctr">
              <a:lnSpc>
                <a:spcPts val="4216"/>
              </a:lnSpc>
            </a:pPr>
            <a:r>
              <a:rPr sz="3666" b="0" i="1">
                <a:solidFill>
                  <a:srgbClr val="E6CF98"/>
                </a:solidFill>
                <a:latin typeface="Cormorant Garamond"/>
                <a:cs typeface="Cormorant Garamond"/>
              </a:rPr>
              <a:t>en magasin</a:t>
            </a:r>
          </a:p>
        </p:txBody>
      </p:sp>
      <p:sp>
        <p:nvSpPr>
          <p:cNvPr id="11" name="service-4"/>
          <p:cNvSpPr txBox="1"/>
          <p:nvPr/>
        </p:nvSpPr>
        <p:spPr>
          <a:xfrm>
            <a:off x="12588967" y="21004606"/>
            <a:ext cx="3793935" cy="11899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153"/>
              </a:lnSpc>
            </a:pPr>
            <a:r>
              <a:rPr sz="4481" b="1" i="0">
                <a:solidFill>
                  <a:srgbClr val="F4ECE0"/>
                </a:solidFill>
                <a:latin typeface="Cormorant Garamond"/>
                <a:cs typeface="Cormorant Garamond"/>
              </a:rPr>
              <a:t>Carte des vins</a:t>
            </a:r>
          </a:p>
          <a:p>
            <a:pPr algn="ctr">
              <a:lnSpc>
                <a:spcPts val="4216"/>
              </a:lnSpc>
            </a:pPr>
            <a:r>
              <a:rPr sz="3666" b="0" i="1">
                <a:solidFill>
                  <a:srgbClr val="E6CF98"/>
                </a:solidFill>
                <a:latin typeface="Cormorant Garamond"/>
                <a:cs typeface="Cormorant Garamond"/>
              </a:rPr>
              <a:t>pour les pros</a:t>
            </a:r>
          </a:p>
        </p:txBody>
      </p:sp>
      <p:sp>
        <p:nvSpPr>
          <p:cNvPr id="12" name="service-5"/>
          <p:cNvSpPr txBox="1"/>
          <p:nvPr/>
        </p:nvSpPr>
        <p:spPr>
          <a:xfrm>
            <a:off x="16382903" y="21004606"/>
            <a:ext cx="3793935" cy="11899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153"/>
              </a:lnSpc>
            </a:pPr>
            <a:r>
              <a:rPr sz="4481" b="1" i="0">
                <a:solidFill>
                  <a:srgbClr val="F4ECE0"/>
                </a:solidFill>
                <a:latin typeface="Cormorant Garamond"/>
                <a:cs typeface="Cormorant Garamond"/>
              </a:rPr>
              <a:t>Célébrations</a:t>
            </a:r>
          </a:p>
          <a:p>
            <a:pPr algn="ctr">
              <a:lnSpc>
                <a:spcPts val="4216"/>
              </a:lnSpc>
            </a:pPr>
            <a:r>
              <a:rPr sz="3666" b="0" i="1">
                <a:solidFill>
                  <a:srgbClr val="E6CF98"/>
                </a:solidFill>
                <a:latin typeface="Cormorant Garamond"/>
                <a:cs typeface="Cormorant Garamond"/>
              </a:rPr>
              <a:t>&amp; mariages</a:t>
            </a:r>
          </a:p>
        </p:txBody>
      </p:sp>
      <p:sp>
        <p:nvSpPr>
          <p:cNvPr id="13" name="adresse-titre"/>
          <p:cNvSpPr txBox="1"/>
          <p:nvPr/>
        </p:nvSpPr>
        <p:spPr>
          <a:xfrm>
            <a:off x="1293387" y="23625870"/>
            <a:ext cx="9312387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70"/>
              </a:lnSpc>
            </a:pPr>
            <a:r>
              <a:rPr sz="2308" b="1" i="0" spc="543">
                <a:solidFill>
                  <a:srgbClr val="CFA548"/>
                </a:solidFill>
                <a:latin typeface="Montserrat"/>
                <a:cs typeface="Montserrat"/>
              </a:rPr>
              <a:t>NOUS TROUVER</a:t>
            </a:r>
          </a:p>
        </p:txBody>
      </p:sp>
      <p:sp>
        <p:nvSpPr>
          <p:cNvPr id="14" name="adresse"/>
          <p:cNvSpPr txBox="1"/>
          <p:nvPr/>
        </p:nvSpPr>
        <p:spPr>
          <a:xfrm>
            <a:off x="1293387" y="24143225"/>
            <a:ext cx="9312387" cy="121061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766"/>
              </a:lnSpc>
            </a:pPr>
            <a:r>
              <a:rPr sz="3666" b="0" i="0">
                <a:solidFill>
                  <a:srgbClr val="F4ECE0"/>
                </a:solidFill>
                <a:latin typeface="Montserrat"/>
                <a:cs typeface="Montserrat"/>
              </a:rPr>
              <a:t>71 avenue de la Libération</a:t>
            </a:r>
          </a:p>
          <a:p>
            <a:pPr algn="ctr">
              <a:lnSpc>
                <a:spcPts val="4766"/>
              </a:lnSpc>
            </a:pPr>
            <a:r>
              <a:rPr sz="3666" b="0" i="0">
                <a:solidFill>
                  <a:srgbClr val="F4ECE0"/>
                </a:solidFill>
                <a:latin typeface="Montserrat"/>
                <a:cs typeface="Montserrat"/>
              </a:rPr>
              <a:t>44400 Rezé</a:t>
            </a:r>
          </a:p>
        </p:txBody>
      </p:sp>
      <p:sp>
        <p:nvSpPr>
          <p:cNvPr id="15" name="adresse-precision"/>
          <p:cNvSpPr txBox="1"/>
          <p:nvPr/>
        </p:nvSpPr>
        <p:spPr>
          <a:xfrm>
            <a:off x="1293387" y="25419367"/>
            <a:ext cx="9312387" cy="39318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3095"/>
              </a:lnSpc>
            </a:pPr>
            <a:r>
              <a:rPr sz="2579" b="0" i="0">
                <a:solidFill>
                  <a:srgbClr val="E6CF98"/>
                </a:solidFill>
                <a:latin typeface="Montserrat"/>
                <a:cs typeface="Montserrat"/>
              </a:rPr>
              <a:t>En face du parking et du tram du 8 Mai</a:t>
            </a:r>
          </a:p>
        </p:txBody>
      </p:sp>
      <p:sp>
        <p:nvSpPr>
          <p:cNvPr id="16" name="horaires-titre"/>
          <p:cNvSpPr txBox="1"/>
          <p:nvPr/>
        </p:nvSpPr>
        <p:spPr>
          <a:xfrm>
            <a:off x="11381806" y="24005264"/>
            <a:ext cx="8622580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70"/>
              </a:lnSpc>
            </a:pPr>
            <a:r>
              <a:rPr sz="2308" b="1" i="0" spc="543">
                <a:solidFill>
                  <a:srgbClr val="CFA548"/>
                </a:solidFill>
                <a:latin typeface="Montserrat"/>
                <a:cs typeface="Montserrat"/>
              </a:rPr>
              <a:t>DU MARDI AU SAMEDI</a:t>
            </a:r>
          </a:p>
        </p:txBody>
      </p:sp>
      <p:sp>
        <p:nvSpPr>
          <p:cNvPr id="17" name="telephone"/>
          <p:cNvSpPr txBox="1"/>
          <p:nvPr/>
        </p:nvSpPr>
        <p:spPr>
          <a:xfrm>
            <a:off x="11381806" y="24488129"/>
            <a:ext cx="8622580" cy="70360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5540"/>
              </a:lnSpc>
            </a:pPr>
            <a:r>
              <a:rPr sz="4616" b="1" i="0" spc="204">
                <a:solidFill>
                  <a:srgbClr val="F4ECE0"/>
                </a:solidFill>
                <a:latin typeface="Montserrat"/>
                <a:cs typeface="Montserrat"/>
              </a:rPr>
              <a:t>02 49 62 66 45</a:t>
            </a:r>
          </a:p>
        </p:txBody>
      </p:sp>
      <p:sp>
        <p:nvSpPr>
          <p:cNvPr id="18" name="en-ligne-titre"/>
          <p:cNvSpPr txBox="1"/>
          <p:nvPr/>
        </p:nvSpPr>
        <p:spPr>
          <a:xfrm>
            <a:off x="1293387" y="26454077"/>
            <a:ext cx="9312387" cy="35180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70"/>
              </a:lnSpc>
            </a:pPr>
            <a:r>
              <a:rPr sz="2308" b="1" i="0" spc="543">
                <a:solidFill>
                  <a:srgbClr val="CFA548"/>
                </a:solidFill>
                <a:latin typeface="Montserrat"/>
                <a:cs typeface="Montserrat"/>
              </a:rPr>
              <a:t>EN LIGNE</a:t>
            </a:r>
          </a:p>
        </p:txBody>
      </p:sp>
      <p:sp>
        <p:nvSpPr>
          <p:cNvPr id="19" name="en-ligne"/>
          <p:cNvSpPr txBox="1"/>
          <p:nvPr/>
        </p:nvSpPr>
        <p:spPr>
          <a:xfrm>
            <a:off x="1293387" y="26971432"/>
            <a:ext cx="9312387" cy="15132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4949"/>
              </a:lnSpc>
            </a:pPr>
            <a:r>
              <a:rPr sz="3666" b="0" i="0">
                <a:solidFill>
                  <a:srgbClr val="F4ECE0"/>
                </a:solidFill>
                <a:latin typeface="Montserrat"/>
                <a:cs typeface="Montserrat"/>
              </a:rPr>
              <a:t>cave71.com</a:t>
            </a:r>
          </a:p>
          <a:p>
            <a:pPr algn="ctr">
              <a:lnSpc>
                <a:spcPts val="3482"/>
              </a:lnSpc>
            </a:pPr>
            <a:r>
              <a:rPr sz="2579" b="0" i="0">
                <a:solidFill>
                  <a:srgbClr val="E6CF98"/>
                </a:solidFill>
                <a:latin typeface="Montserrat"/>
                <a:cs typeface="Montserrat"/>
              </a:rPr>
              <a:t>contact.cave71@gmail.com</a:t>
            </a:r>
          </a:p>
          <a:p>
            <a:pPr algn="ctr">
              <a:lnSpc>
                <a:spcPts val="3482"/>
              </a:lnSpc>
            </a:pPr>
            <a:r>
              <a:rPr sz="2579" b="0" i="0">
                <a:solidFill>
                  <a:srgbClr val="E6CF98"/>
                </a:solidFill>
                <a:latin typeface="Montserrat"/>
                <a:cs typeface="Montserrat"/>
              </a:rPr>
              <a:t>Facebook : Cave 71</a:t>
            </a:r>
          </a:p>
        </p:txBody>
      </p:sp>
      <p:sp>
        <p:nvSpPr>
          <p:cNvPr id="20" name="qr-texte"/>
          <p:cNvSpPr txBox="1"/>
          <p:nvPr/>
        </p:nvSpPr>
        <p:spPr>
          <a:xfrm>
            <a:off x="14692877" y="26902451"/>
            <a:ext cx="5518451" cy="11002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47"/>
              </a:lnSpc>
            </a:pPr>
            <a:r>
              <a:rPr sz="2308" b="1" i="0" spc="543">
                <a:solidFill>
                  <a:srgbClr val="CFA548"/>
                </a:solidFill>
                <a:latin typeface="Montserrat"/>
                <a:cs typeface="Montserrat"/>
              </a:rPr>
              <a:t>SCANNEZ-MOI</a:t>
            </a:r>
          </a:p>
          <a:p>
            <a:pPr algn="l">
              <a:lnSpc>
                <a:spcPts val="5316"/>
              </a:lnSpc>
            </a:pPr>
            <a:r>
              <a:rPr sz="3666" b="0" i="0">
                <a:solidFill>
                  <a:srgbClr val="F4ECE0"/>
                </a:solidFill>
                <a:latin typeface="Montserrat"/>
                <a:cs typeface="Montserrat"/>
              </a:rPr>
              <a:t>Découvrez nos vins</a:t>
            </a:r>
          </a:p>
        </p:txBody>
      </p:sp>
      <p:sp>
        <p:nvSpPr>
          <p:cNvPr id="21" name="mention-legale"/>
          <p:cNvSpPr txBox="1"/>
          <p:nvPr/>
        </p:nvSpPr>
        <p:spPr>
          <a:xfrm>
            <a:off x="0" y="29144322"/>
            <a:ext cx="21384000" cy="31041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444"/>
              </a:lnSpc>
            </a:pPr>
            <a:r>
              <a:rPr sz="2036" b="0" i="0" spc="54">
                <a:solidFill>
                  <a:srgbClr val="C8C1B7"/>
                </a:solidFill>
                <a:latin typeface="Montserrat"/>
                <a:cs typeface="Montserrat"/>
              </a:rPr>
              <a:t>L’abus d’alcool est dangereux pour la santé, à consommer avec modération.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