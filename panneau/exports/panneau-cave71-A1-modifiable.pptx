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4801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1384000" cy="30248012"/>
          </a:xfrm>
          <a:prstGeom prst="rect">
            <a:avLst/>
          </a:prstGeom>
        </p:spPr>
      </p:pic>
      <p:pic>
        <p:nvPicPr>
          <p:cNvPr id="3" name="Picture 2" descr="logo_cave71_bl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8838" y="1690025"/>
            <a:ext cx="13106322" cy="2621264"/>
          </a:xfrm>
          <a:prstGeom prst="rect">
            <a:avLst/>
          </a:prstGeom>
        </p:spPr>
      </p:pic>
      <p:sp>
        <p:nvSpPr>
          <p:cNvPr id="4" name="surtitre"/>
          <p:cNvSpPr txBox="1"/>
          <p:nvPr/>
        </p:nvSpPr>
        <p:spPr>
          <a:xfrm>
            <a:off x="0" y="1034709"/>
            <a:ext cx="21384000" cy="39318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095"/>
              </a:lnSpc>
            </a:pPr>
            <a:r>
              <a:rPr sz="2579" b="1" i="0" spc="679">
                <a:solidFill>
                  <a:srgbClr val="CFA548"/>
                </a:solidFill>
                <a:latin typeface="Montserrat"/>
                <a:cs typeface="Montserrat"/>
              </a:rPr>
              <a:t>VOTRE CAVISTE À REZÉ</a:t>
            </a:r>
          </a:p>
        </p:txBody>
      </p:sp>
      <p:sp>
        <p:nvSpPr>
          <p:cNvPr id="5" name="titre"/>
          <p:cNvSpPr txBox="1"/>
          <p:nvPr/>
        </p:nvSpPr>
        <p:spPr>
          <a:xfrm>
            <a:off x="0" y="4518232"/>
            <a:ext cx="21384000" cy="137961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10863"/>
              </a:lnSpc>
            </a:pPr>
            <a:r>
              <a:rPr sz="10863" b="0" i="1">
                <a:solidFill>
                  <a:srgbClr val="F4ECE0"/>
                </a:solidFill>
                <a:latin typeface="Cormorant Garamond"/>
                <a:cs typeface="Cormorant Garamond"/>
              </a:rPr>
              <a:t>Vins, spiritueux </a:t>
            </a:r>
            <a:r>
              <a:rPr sz="10863" b="0" i="1">
                <a:solidFill>
                  <a:srgbClr val="CFA548"/>
                </a:solidFill>
                <a:latin typeface="Cormorant Garamond"/>
                <a:cs typeface="Cormorant Garamond"/>
              </a:rPr>
              <a:t>&amp;</a:t>
            </a:r>
            <a:r>
              <a:rPr sz="10863" b="0" i="1">
                <a:solidFill>
                  <a:srgbClr val="F4ECE0"/>
                </a:solidFill>
                <a:latin typeface="Cormorant Garamond"/>
                <a:cs typeface="Cormorant Garamond"/>
              </a:rPr>
              <a:t> épicerie fine</a:t>
            </a:r>
          </a:p>
        </p:txBody>
      </p:sp>
      <p:sp>
        <p:nvSpPr>
          <p:cNvPr id="6" name="sous-titre"/>
          <p:cNvSpPr txBox="1"/>
          <p:nvPr/>
        </p:nvSpPr>
        <p:spPr>
          <a:xfrm>
            <a:off x="0" y="6104787"/>
            <a:ext cx="21384000" cy="37249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933"/>
              </a:lnSpc>
            </a:pPr>
            <a:r>
              <a:rPr sz="2444" b="1" i="0" spc="815">
                <a:solidFill>
                  <a:srgbClr val="E6CF98"/>
                </a:solidFill>
                <a:latin typeface="Montserrat"/>
                <a:cs typeface="Montserrat"/>
              </a:rPr>
              <a:t>DOMAINES · DISTILLERIES · ARTISANS DU TERROIR</a:t>
            </a:r>
          </a:p>
        </p:txBody>
      </p:sp>
      <p:sp>
        <p:nvSpPr>
          <p:cNvPr id="7" name="services-titre"/>
          <p:cNvSpPr txBox="1"/>
          <p:nvPr/>
        </p:nvSpPr>
        <p:spPr>
          <a:xfrm>
            <a:off x="7242967" y="18728245"/>
            <a:ext cx="6898064" cy="43457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421"/>
              </a:lnSpc>
            </a:pPr>
            <a:r>
              <a:rPr sz="2851" b="1" i="0" spc="679">
                <a:solidFill>
                  <a:srgbClr val="CFA548"/>
                </a:solidFill>
                <a:latin typeface="Montserrat"/>
                <a:cs typeface="Montserrat"/>
              </a:rPr>
              <a:t>À LA CAVE 71</a:t>
            </a:r>
          </a:p>
        </p:txBody>
      </p:sp>
      <p:sp>
        <p:nvSpPr>
          <p:cNvPr id="8" name="service-1"/>
          <p:cNvSpPr txBox="1"/>
          <p:nvPr/>
        </p:nvSpPr>
        <p:spPr>
          <a:xfrm>
            <a:off x="2586774" y="19452541"/>
            <a:ext cx="5173548" cy="122957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5309"/>
              </a:lnSpc>
            </a:pPr>
            <a:r>
              <a:rPr sz="4616" b="1" i="0">
                <a:solidFill>
                  <a:srgbClr val="F4ECE0"/>
                </a:solidFill>
                <a:latin typeface="Cormorant Garamond"/>
                <a:cs typeface="Cormorant Garamond"/>
              </a:rPr>
              <a:t>Coffrets</a:t>
            </a:r>
          </a:p>
          <a:p>
            <a:pPr algn="l">
              <a:lnSpc>
                <a:spcPts val="4372"/>
              </a:lnSpc>
            </a:pPr>
            <a:r>
              <a:rPr sz="3802" b="0" i="1">
                <a:solidFill>
                  <a:srgbClr val="E6CF98"/>
                </a:solidFill>
                <a:latin typeface="Cormorant Garamond"/>
                <a:cs typeface="Cormorant Garamond"/>
              </a:rPr>
              <a:t>&amp; idées cadeaux</a:t>
            </a:r>
          </a:p>
        </p:txBody>
      </p:sp>
      <p:sp>
        <p:nvSpPr>
          <p:cNvPr id="9" name="service-2"/>
          <p:cNvSpPr txBox="1"/>
          <p:nvPr/>
        </p:nvSpPr>
        <p:spPr>
          <a:xfrm>
            <a:off x="9226161" y="19452541"/>
            <a:ext cx="5173548" cy="122957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5309"/>
              </a:lnSpc>
            </a:pPr>
            <a:r>
              <a:rPr sz="4616" b="1" i="0">
                <a:solidFill>
                  <a:srgbClr val="F4ECE0"/>
                </a:solidFill>
                <a:latin typeface="Cormorant Garamond"/>
                <a:cs typeface="Cormorant Garamond"/>
              </a:rPr>
              <a:t>Soirées œnologiques</a:t>
            </a:r>
          </a:p>
          <a:p>
            <a:pPr algn="l">
              <a:lnSpc>
                <a:spcPts val="4372"/>
              </a:lnSpc>
            </a:pPr>
            <a:r>
              <a:rPr sz="3802" b="0" i="1">
                <a:solidFill>
                  <a:srgbClr val="E6CF98"/>
                </a:solidFill>
                <a:latin typeface="Cormorant Garamond"/>
                <a:cs typeface="Cormorant Garamond"/>
              </a:rPr>
              <a:t>&amp; découvertes</a:t>
            </a:r>
          </a:p>
        </p:txBody>
      </p:sp>
      <p:sp>
        <p:nvSpPr>
          <p:cNvPr id="10" name="service-3"/>
          <p:cNvSpPr txBox="1"/>
          <p:nvPr/>
        </p:nvSpPr>
        <p:spPr>
          <a:xfrm>
            <a:off x="15865548" y="19452541"/>
            <a:ext cx="4828645" cy="122957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5309"/>
              </a:lnSpc>
            </a:pPr>
            <a:r>
              <a:rPr sz="4616" b="1" i="0">
                <a:solidFill>
                  <a:srgbClr val="F4ECE0"/>
                </a:solidFill>
                <a:latin typeface="Cormorant Garamond"/>
                <a:cs typeface="Cormorant Garamond"/>
              </a:rPr>
              <a:t>Achat &amp; conseil</a:t>
            </a:r>
          </a:p>
          <a:p>
            <a:pPr algn="l">
              <a:lnSpc>
                <a:spcPts val="4372"/>
              </a:lnSpc>
            </a:pPr>
            <a:r>
              <a:rPr sz="3802" b="0" i="1">
                <a:solidFill>
                  <a:srgbClr val="E6CF98"/>
                </a:solidFill>
                <a:latin typeface="Cormorant Garamond"/>
                <a:cs typeface="Cormorant Garamond"/>
              </a:rPr>
              <a:t>en magasin</a:t>
            </a:r>
          </a:p>
        </p:txBody>
      </p:sp>
      <p:sp>
        <p:nvSpPr>
          <p:cNvPr id="11" name="service-4"/>
          <p:cNvSpPr txBox="1"/>
          <p:nvPr/>
        </p:nvSpPr>
        <p:spPr>
          <a:xfrm>
            <a:off x="5915090" y="21039096"/>
            <a:ext cx="5173548" cy="122957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5309"/>
              </a:lnSpc>
            </a:pPr>
            <a:r>
              <a:rPr sz="4616" b="1" i="0">
                <a:solidFill>
                  <a:srgbClr val="F4ECE0"/>
                </a:solidFill>
                <a:latin typeface="Cormorant Garamond"/>
                <a:cs typeface="Cormorant Garamond"/>
              </a:rPr>
              <a:t>Conseil &amp; élaboration</a:t>
            </a:r>
          </a:p>
          <a:p>
            <a:pPr algn="l">
              <a:lnSpc>
                <a:spcPts val="4372"/>
              </a:lnSpc>
            </a:pPr>
            <a:r>
              <a:rPr sz="3802" b="0" i="1">
                <a:solidFill>
                  <a:srgbClr val="E6CF98"/>
                </a:solidFill>
                <a:latin typeface="Cormorant Garamond"/>
                <a:cs typeface="Cormorant Garamond"/>
              </a:rPr>
              <a:t>de votre carte des vins</a:t>
            </a:r>
          </a:p>
        </p:txBody>
      </p:sp>
      <p:sp>
        <p:nvSpPr>
          <p:cNvPr id="12" name="service-5"/>
          <p:cNvSpPr txBox="1"/>
          <p:nvPr/>
        </p:nvSpPr>
        <p:spPr>
          <a:xfrm>
            <a:off x="12554477" y="21039096"/>
            <a:ext cx="5863354" cy="122957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5309"/>
              </a:lnSpc>
            </a:pPr>
            <a:r>
              <a:rPr sz="4616" b="1" i="0">
                <a:solidFill>
                  <a:srgbClr val="F4ECE0"/>
                </a:solidFill>
                <a:latin typeface="Cormorant Garamond"/>
                <a:cs typeface="Cormorant Garamond"/>
              </a:rPr>
              <a:t>Célébrations, mariages</a:t>
            </a:r>
          </a:p>
          <a:p>
            <a:pPr algn="l">
              <a:lnSpc>
                <a:spcPts val="4372"/>
              </a:lnSpc>
            </a:pPr>
            <a:r>
              <a:rPr sz="3802" b="0" i="1">
                <a:solidFill>
                  <a:srgbClr val="E6CF98"/>
                </a:solidFill>
                <a:latin typeface="Cormorant Garamond"/>
                <a:cs typeface="Cormorant Garamond"/>
              </a:rPr>
              <a:t>&amp; événementiel</a:t>
            </a:r>
          </a:p>
        </p:txBody>
      </p:sp>
      <p:sp>
        <p:nvSpPr>
          <p:cNvPr id="13" name="adresse-titre"/>
          <p:cNvSpPr txBox="1"/>
          <p:nvPr/>
        </p:nvSpPr>
        <p:spPr>
          <a:xfrm>
            <a:off x="1207161" y="23315458"/>
            <a:ext cx="8967483" cy="39318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095"/>
              </a:lnSpc>
            </a:pPr>
            <a:r>
              <a:rPr sz="2579" b="1" i="0" spc="679">
                <a:solidFill>
                  <a:srgbClr val="CFA548"/>
                </a:solidFill>
                <a:latin typeface="Montserrat"/>
                <a:cs typeface="Montserrat"/>
              </a:rPr>
              <a:t>NOUS TROUVER</a:t>
            </a:r>
          </a:p>
        </p:txBody>
      </p:sp>
      <p:sp>
        <p:nvSpPr>
          <p:cNvPr id="14" name="adresse"/>
          <p:cNvSpPr txBox="1"/>
          <p:nvPr/>
        </p:nvSpPr>
        <p:spPr>
          <a:xfrm>
            <a:off x="1207161" y="23867303"/>
            <a:ext cx="8967483" cy="138996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5472"/>
              </a:lnSpc>
            </a:pPr>
            <a:r>
              <a:rPr sz="4209" b="1" i="0">
                <a:solidFill>
                  <a:srgbClr val="F4ECE0"/>
                </a:solidFill>
                <a:latin typeface="Montserrat"/>
                <a:cs typeface="Montserrat"/>
              </a:rPr>
              <a:t>71 avenue de la Libération</a:t>
            </a:r>
          </a:p>
          <a:p>
            <a:pPr algn="l">
              <a:lnSpc>
                <a:spcPts val="5472"/>
              </a:lnSpc>
            </a:pPr>
            <a:r>
              <a:rPr sz="4209" b="1" i="0">
                <a:solidFill>
                  <a:srgbClr val="F4ECE0"/>
                </a:solidFill>
                <a:latin typeface="Montserrat"/>
                <a:cs typeface="Montserrat"/>
              </a:rPr>
              <a:t>44400 Rezé</a:t>
            </a:r>
          </a:p>
        </p:txBody>
      </p:sp>
      <p:sp>
        <p:nvSpPr>
          <p:cNvPr id="15" name="adresse-precision"/>
          <p:cNvSpPr txBox="1"/>
          <p:nvPr/>
        </p:nvSpPr>
        <p:spPr>
          <a:xfrm>
            <a:off x="1207161" y="25350387"/>
            <a:ext cx="8967483" cy="413883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258"/>
              </a:lnSpc>
            </a:pPr>
            <a:r>
              <a:rPr sz="2715" b="0" i="0">
                <a:solidFill>
                  <a:srgbClr val="E6CF98"/>
                </a:solidFill>
                <a:latin typeface="Montserrat"/>
                <a:cs typeface="Montserrat"/>
              </a:rPr>
              <a:t>En face du parking et du tram du 8 Mai</a:t>
            </a:r>
          </a:p>
        </p:txBody>
      </p:sp>
      <p:sp>
        <p:nvSpPr>
          <p:cNvPr id="16" name="horaires-titre"/>
          <p:cNvSpPr txBox="1"/>
          <p:nvPr/>
        </p:nvSpPr>
        <p:spPr>
          <a:xfrm>
            <a:off x="10692000" y="23315458"/>
            <a:ext cx="9484838" cy="39318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>
              <a:lnSpc>
                <a:spcPts val="3095"/>
              </a:lnSpc>
            </a:pPr>
            <a:r>
              <a:rPr sz="2579" b="1" i="0" spc="679">
                <a:solidFill>
                  <a:srgbClr val="CFA548"/>
                </a:solidFill>
                <a:latin typeface="Montserrat"/>
                <a:cs typeface="Montserrat"/>
              </a:rPr>
              <a:t>DU MARDI AU SAMEDI</a:t>
            </a:r>
          </a:p>
        </p:txBody>
      </p:sp>
      <p:sp>
        <p:nvSpPr>
          <p:cNvPr id="17" name="horaires"/>
          <p:cNvSpPr txBox="1"/>
          <p:nvPr/>
        </p:nvSpPr>
        <p:spPr>
          <a:xfrm>
            <a:off x="10692000" y="23867303"/>
            <a:ext cx="9484838" cy="64151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>
              <a:lnSpc>
                <a:spcPts val="5051"/>
              </a:lnSpc>
            </a:pPr>
            <a:r>
              <a:rPr sz="4209" b="1" i="0">
                <a:solidFill>
                  <a:srgbClr val="F4ECE0"/>
                </a:solidFill>
                <a:latin typeface="Montserrat"/>
                <a:cs typeface="Montserrat"/>
              </a:rPr>
              <a:t>10h – 13h </a:t>
            </a:r>
            <a:r>
              <a:rPr sz="4209" b="1" i="0">
                <a:solidFill>
                  <a:srgbClr val="CFA548"/>
                </a:solidFill>
                <a:latin typeface="Montserrat"/>
                <a:cs typeface="Montserrat"/>
              </a:rPr>
              <a:t>·</a:t>
            </a:r>
            <a:r>
              <a:rPr sz="4209" b="1" i="0">
                <a:solidFill>
                  <a:srgbClr val="F4ECE0"/>
                </a:solidFill>
                <a:latin typeface="Montserrat"/>
                <a:cs typeface="Montserrat"/>
              </a:rPr>
              <a:t> 15h30 – 19h30</a:t>
            </a:r>
          </a:p>
        </p:txBody>
      </p:sp>
      <p:sp>
        <p:nvSpPr>
          <p:cNvPr id="18" name="telephone"/>
          <p:cNvSpPr txBox="1"/>
          <p:nvPr/>
        </p:nvSpPr>
        <p:spPr>
          <a:xfrm>
            <a:off x="10692000" y="24626090"/>
            <a:ext cx="9484838" cy="103470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>
              <a:lnSpc>
                <a:spcPts val="8147"/>
              </a:lnSpc>
            </a:pPr>
            <a:r>
              <a:rPr sz="6789" b="1" i="0" spc="272">
                <a:solidFill>
                  <a:srgbClr val="F4ECE0"/>
                </a:solidFill>
                <a:latin typeface="Montserrat"/>
                <a:cs typeface="Montserrat"/>
              </a:rPr>
              <a:t>02 49 62 66 45</a:t>
            </a:r>
          </a:p>
        </p:txBody>
      </p:sp>
      <p:sp>
        <p:nvSpPr>
          <p:cNvPr id="19" name="en-ligne-titre"/>
          <p:cNvSpPr txBox="1"/>
          <p:nvPr/>
        </p:nvSpPr>
        <p:spPr>
          <a:xfrm>
            <a:off x="1207161" y="26557548"/>
            <a:ext cx="10347096" cy="39318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095"/>
              </a:lnSpc>
            </a:pPr>
            <a:r>
              <a:rPr sz="2579" b="1" i="0" spc="679">
                <a:solidFill>
                  <a:srgbClr val="CFA548"/>
                </a:solidFill>
                <a:latin typeface="Montserrat"/>
                <a:cs typeface="Montserrat"/>
              </a:rPr>
              <a:t>EN LIGNE</a:t>
            </a:r>
          </a:p>
        </p:txBody>
      </p:sp>
      <p:sp>
        <p:nvSpPr>
          <p:cNvPr id="20" name="en-ligne"/>
          <p:cNvSpPr txBox="1"/>
          <p:nvPr/>
        </p:nvSpPr>
        <p:spPr>
          <a:xfrm>
            <a:off x="1207161" y="27074903"/>
            <a:ext cx="15520645" cy="127527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5906"/>
              </a:lnSpc>
            </a:pPr>
            <a:r>
              <a:rPr sz="4073" b="1" i="0">
                <a:solidFill>
                  <a:srgbClr val="F4ECE0"/>
                </a:solidFill>
                <a:latin typeface="Montserrat"/>
                <a:cs typeface="Montserrat"/>
              </a:rPr>
              <a:t>cave71.com</a:t>
            </a:r>
          </a:p>
          <a:p>
            <a:pPr algn="l">
              <a:lnSpc>
                <a:spcPts val="4134"/>
              </a:lnSpc>
            </a:pPr>
            <a:r>
              <a:rPr sz="2851" b="0" i="0">
                <a:solidFill>
                  <a:srgbClr val="F4ECE0"/>
                </a:solidFill>
                <a:latin typeface="Montserrat"/>
                <a:cs typeface="Montserrat"/>
              </a:rPr>
              <a:t>contact.cave71@gmail.com  ·  Facebook : Cave 71</a:t>
            </a:r>
          </a:p>
        </p:txBody>
      </p:sp>
      <p:sp>
        <p:nvSpPr>
          <p:cNvPr id="21" name="mention-legale"/>
          <p:cNvSpPr txBox="1"/>
          <p:nvPr/>
        </p:nvSpPr>
        <p:spPr>
          <a:xfrm>
            <a:off x="0" y="29144322"/>
            <a:ext cx="21384000" cy="31041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444"/>
              </a:lnSpc>
            </a:pPr>
            <a:r>
              <a:rPr sz="2036" b="0" i="0" spc="54">
                <a:solidFill>
                  <a:srgbClr val="C8C1B7"/>
                </a:solidFill>
                <a:latin typeface="Montserrat"/>
                <a:cs typeface="Montserrat"/>
              </a:rPr>
              <a:t>L’abus d’alcool est dangereux pour la santé, à consommer avec modération.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