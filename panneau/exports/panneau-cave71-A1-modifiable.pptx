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0" i="0" spc="679">
                <a:solidFill>
                  <a:srgbClr val="CFA548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449251"/>
            <a:ext cx="21384000" cy="16210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2764"/>
              </a:lnSpc>
            </a:pPr>
            <a:r>
              <a:rPr sz="12764" b="0" i="1">
                <a:solidFill>
                  <a:srgbClr val="F4ECE0"/>
                </a:solidFill>
                <a:latin typeface="Cormorant Garamond"/>
                <a:cs typeface="Cormorant Garamond"/>
              </a:rPr>
              <a:t>Vins, spiritueux </a:t>
            </a:r>
            <a:r>
              <a:rPr sz="12764" b="0" i="1">
                <a:solidFill>
                  <a:srgbClr val="CFA548"/>
                </a:solidFill>
                <a:latin typeface="Cormorant Garamond"/>
                <a:cs typeface="Cormorant Garamond"/>
              </a:rPr>
              <a:t>&amp;</a:t>
            </a:r>
            <a:r>
              <a:rPr sz="12764" b="0" i="1">
                <a:solidFill>
                  <a:srgbClr val="F4ECE0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346219"/>
            <a:ext cx="21384000" cy="47596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747"/>
              </a:lnSpc>
            </a:pPr>
            <a:r>
              <a:rPr sz="3123" b="0" i="0" spc="815">
                <a:solidFill>
                  <a:srgbClr val="E6CF98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18866206"/>
            <a:ext cx="8622580" cy="45527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584"/>
              </a:lnSpc>
            </a:pPr>
            <a:r>
              <a:rPr sz="2987" b="1" i="0" spc="815">
                <a:solidFill>
                  <a:srgbClr val="CFA548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1207161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5001096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Soirées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œnologiques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8795032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12588967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Carte des vins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pour les pros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6382903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Célébrations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&amp; mariages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93387" y="23625870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93387" y="24143225"/>
            <a:ext cx="9312387" cy="121061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93387" y="25419367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0" i="0">
                <a:solidFill>
                  <a:srgbClr val="E6CF98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1381806" y="24005264"/>
            <a:ext cx="862258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telephone"/>
          <p:cNvSpPr txBox="1"/>
          <p:nvPr/>
        </p:nvSpPr>
        <p:spPr>
          <a:xfrm>
            <a:off x="11381806" y="24488129"/>
            <a:ext cx="8622580" cy="70360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540"/>
              </a:lnSpc>
            </a:pPr>
            <a:r>
              <a:rPr sz="4616" b="1" i="0" spc="204">
                <a:solidFill>
                  <a:srgbClr val="F4ECE0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8" name="en-ligne-titre"/>
          <p:cNvSpPr txBox="1"/>
          <p:nvPr/>
        </p:nvSpPr>
        <p:spPr>
          <a:xfrm>
            <a:off x="1293387" y="26454077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19" name="en-ligne"/>
          <p:cNvSpPr txBox="1"/>
          <p:nvPr/>
        </p:nvSpPr>
        <p:spPr>
          <a:xfrm>
            <a:off x="1293387" y="26971432"/>
            <a:ext cx="9312387" cy="15132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949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cave71.com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E6CF98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E6CF98"/>
                </a:solidFill>
                <a:latin typeface="Montserrat"/>
                <a:cs typeface="Montserrat"/>
              </a:rPr>
              <a:t>Facebook : Cave 71</a:t>
            </a:r>
          </a:p>
        </p:txBody>
      </p:sp>
      <p:sp>
        <p:nvSpPr>
          <p:cNvPr id="20" name="qr-texte"/>
          <p:cNvSpPr txBox="1"/>
          <p:nvPr/>
        </p:nvSpPr>
        <p:spPr>
          <a:xfrm>
            <a:off x="14692877" y="26902451"/>
            <a:ext cx="5518451" cy="110024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47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SCANNEZ-MOI</a:t>
            </a:r>
          </a:p>
          <a:p>
            <a:pPr algn="l">
              <a:lnSpc>
                <a:spcPts val="5316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Découvrez nos vins</a:t>
            </a:r>
          </a:p>
        </p:txBody>
      </p:sp>
      <p:sp>
        <p:nvSpPr>
          <p:cNvPr id="21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C8C1B7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