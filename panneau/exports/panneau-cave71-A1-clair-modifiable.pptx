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cl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034709"/>
            <a:ext cx="21384000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095"/>
              </a:lnSpc>
            </a:pPr>
            <a:r>
              <a:rPr sz="2579" b="1" i="0" spc="679">
                <a:solidFill>
                  <a:srgbClr val="A77A26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4449251"/>
            <a:ext cx="21384000" cy="162104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2764"/>
              </a:lnSpc>
            </a:pPr>
            <a:r>
              <a:rPr sz="12764" b="0" i="1">
                <a:solidFill>
                  <a:srgbClr val="2A1619"/>
                </a:solidFill>
                <a:latin typeface="Cormorant Garamond"/>
                <a:cs typeface="Cormorant Garamond"/>
              </a:rPr>
              <a:t>Vins, spiritueux </a:t>
            </a:r>
            <a:r>
              <a:rPr sz="12764" b="0" i="1">
                <a:solidFill>
                  <a:srgbClr val="A77A26"/>
                </a:solidFill>
                <a:latin typeface="Cormorant Garamond"/>
                <a:cs typeface="Cormorant Garamond"/>
              </a:rPr>
              <a:t>&amp;</a:t>
            </a:r>
            <a:r>
              <a:rPr sz="12764" b="0" i="1">
                <a:solidFill>
                  <a:srgbClr val="2A1619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346219"/>
            <a:ext cx="21384000" cy="47596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747"/>
              </a:lnSpc>
            </a:pPr>
            <a:r>
              <a:rPr sz="3123" b="1" i="0" spc="815">
                <a:solidFill>
                  <a:srgbClr val="7D1530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6380709" y="18831716"/>
            <a:ext cx="8622580" cy="57943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562"/>
              </a:lnSpc>
            </a:pPr>
            <a:r>
              <a:rPr sz="3802" b="1" i="0" spc="815">
                <a:solidFill>
                  <a:srgbClr val="A77A26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2328096" y="19590503"/>
            <a:ext cx="6208258" cy="133270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779"/>
              </a:lnSpc>
            </a:pPr>
            <a:r>
              <a:rPr sz="5159" b="1" i="0">
                <a:solidFill>
                  <a:srgbClr val="2A1619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l">
              <a:lnSpc>
                <a:spcPts val="4714"/>
              </a:lnSpc>
            </a:pPr>
            <a:r>
              <a:rPr sz="4209" b="0" i="1">
                <a:solidFill>
                  <a:srgbClr val="7D1530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9053709" y="19590503"/>
            <a:ext cx="6208258" cy="133270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779"/>
              </a:lnSpc>
            </a:pPr>
            <a:r>
              <a:rPr sz="5159" b="1" i="0">
                <a:solidFill>
                  <a:srgbClr val="2A1619"/>
                </a:solidFill>
                <a:latin typeface="Cormorant Garamond"/>
                <a:cs typeface="Cormorant Garamond"/>
              </a:rPr>
              <a:t>Soirées œnologiques</a:t>
            </a:r>
          </a:p>
          <a:p>
            <a:pPr algn="l">
              <a:lnSpc>
                <a:spcPts val="4714"/>
              </a:lnSpc>
            </a:pPr>
            <a:r>
              <a:rPr sz="4209" b="0" i="1">
                <a:solidFill>
                  <a:srgbClr val="7D1530"/>
                </a:solidFill>
                <a:latin typeface="Cormorant Garamond"/>
                <a:cs typeface="Cormorant Garamond"/>
              </a:rPr>
              <a:t>&amp; découvertes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15951774" y="19590503"/>
            <a:ext cx="6208258" cy="133270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779"/>
              </a:lnSpc>
            </a:pPr>
            <a:r>
              <a:rPr sz="5159" b="1" i="0">
                <a:solidFill>
                  <a:srgbClr val="2A1619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l">
              <a:lnSpc>
                <a:spcPts val="4714"/>
              </a:lnSpc>
            </a:pPr>
            <a:r>
              <a:rPr sz="4209" b="0" i="1">
                <a:solidFill>
                  <a:srgbClr val="7D1530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4483741" y="21211548"/>
            <a:ext cx="6208258" cy="133270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779"/>
              </a:lnSpc>
            </a:pPr>
            <a:r>
              <a:rPr sz="5159" b="1" i="0">
                <a:solidFill>
                  <a:srgbClr val="2A1619"/>
                </a:solidFill>
                <a:latin typeface="Cormorant Garamond"/>
                <a:cs typeface="Cormorant Garamond"/>
              </a:rPr>
              <a:t>Conseil &amp; élaboration</a:t>
            </a:r>
          </a:p>
          <a:p>
            <a:pPr algn="l">
              <a:lnSpc>
                <a:spcPts val="4714"/>
              </a:lnSpc>
            </a:pPr>
            <a:r>
              <a:rPr sz="4209" b="0" i="1">
                <a:solidFill>
                  <a:srgbClr val="7D1530"/>
                </a:solidFill>
                <a:latin typeface="Cormorant Garamond"/>
                <a:cs typeface="Cormorant Garamond"/>
              </a:rPr>
              <a:t>de votre carte des vins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2502741" y="21211548"/>
            <a:ext cx="6208258" cy="133270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779"/>
              </a:lnSpc>
            </a:pPr>
            <a:r>
              <a:rPr sz="5159" b="1" i="0">
                <a:solidFill>
                  <a:srgbClr val="2A1619"/>
                </a:solidFill>
                <a:latin typeface="Cormorant Garamond"/>
                <a:cs typeface="Cormorant Garamond"/>
              </a:rPr>
              <a:t>Célébrations, mariages</a:t>
            </a:r>
          </a:p>
          <a:p>
            <a:pPr algn="l">
              <a:lnSpc>
                <a:spcPts val="4714"/>
              </a:lnSpc>
            </a:pPr>
            <a:r>
              <a:rPr sz="4209" b="0" i="1">
                <a:solidFill>
                  <a:srgbClr val="7D1530"/>
                </a:solidFill>
                <a:latin typeface="Cormorant Garamond"/>
                <a:cs typeface="Cormorant Garamond"/>
              </a:rPr>
              <a:t>&amp; événementiel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207161" y="23384438"/>
            <a:ext cx="9312387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95"/>
              </a:lnSpc>
            </a:pPr>
            <a:r>
              <a:rPr sz="2579" b="1" i="0" spc="679">
                <a:solidFill>
                  <a:srgbClr val="A77A26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207161" y="23901793"/>
            <a:ext cx="9312387" cy="1336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261"/>
              </a:lnSpc>
            </a:pPr>
            <a:r>
              <a:rPr sz="4209" b="1" i="0">
                <a:solidFill>
                  <a:srgbClr val="2A1619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l">
              <a:lnSpc>
                <a:spcPts val="5261"/>
              </a:lnSpc>
            </a:pPr>
            <a:r>
              <a:rPr sz="4209" b="1" i="0">
                <a:solidFill>
                  <a:srgbClr val="2A1619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207161" y="25315896"/>
            <a:ext cx="9312387" cy="41388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258"/>
              </a:lnSpc>
            </a:pPr>
            <a:r>
              <a:rPr sz="2715" b="0" i="0">
                <a:solidFill>
                  <a:srgbClr val="7D1530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11468032" y="23384438"/>
            <a:ext cx="8795032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95"/>
              </a:lnSpc>
            </a:pPr>
            <a:r>
              <a:rPr sz="2579" b="1" i="0" spc="679">
                <a:solidFill>
                  <a:srgbClr val="A77A26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horaires"/>
          <p:cNvSpPr txBox="1"/>
          <p:nvPr/>
        </p:nvSpPr>
        <p:spPr>
          <a:xfrm>
            <a:off x="11468032" y="23901793"/>
            <a:ext cx="8795032" cy="64151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051"/>
              </a:lnSpc>
            </a:pPr>
            <a:r>
              <a:rPr sz="4209" b="1" i="0">
                <a:solidFill>
                  <a:srgbClr val="2A1619"/>
                </a:solidFill>
                <a:latin typeface="Montserrat"/>
                <a:cs typeface="Montserrat"/>
              </a:rPr>
              <a:t>10h – 13h </a:t>
            </a:r>
            <a:r>
              <a:rPr sz="4209" b="1" i="0">
                <a:solidFill>
                  <a:srgbClr val="A77A26"/>
                </a:solidFill>
                <a:latin typeface="Montserrat"/>
                <a:cs typeface="Montserrat"/>
              </a:rPr>
              <a:t>·</a:t>
            </a:r>
            <a:r>
              <a:rPr sz="4209" b="1" i="0">
                <a:solidFill>
                  <a:srgbClr val="2A1619"/>
                </a:solidFill>
                <a:latin typeface="Montserrat"/>
                <a:cs typeface="Montserrat"/>
              </a:rPr>
              <a:t> 15h30 – 19h30</a:t>
            </a:r>
          </a:p>
        </p:txBody>
      </p:sp>
      <p:sp>
        <p:nvSpPr>
          <p:cNvPr id="18" name="telephone"/>
          <p:cNvSpPr txBox="1"/>
          <p:nvPr/>
        </p:nvSpPr>
        <p:spPr>
          <a:xfrm>
            <a:off x="11468032" y="24626090"/>
            <a:ext cx="8795032" cy="99332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7821"/>
              </a:lnSpc>
            </a:pPr>
            <a:r>
              <a:rPr sz="6517" b="1" i="0" spc="272">
                <a:solidFill>
                  <a:srgbClr val="2A1619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9" name="en-ligne-titre"/>
          <p:cNvSpPr txBox="1"/>
          <p:nvPr/>
        </p:nvSpPr>
        <p:spPr>
          <a:xfrm>
            <a:off x="1207161" y="26316116"/>
            <a:ext cx="9312387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95"/>
              </a:lnSpc>
            </a:pPr>
            <a:r>
              <a:rPr sz="2579" b="1" i="0" spc="679">
                <a:solidFill>
                  <a:srgbClr val="A77A26"/>
                </a:solidFill>
                <a:latin typeface="Montserrat"/>
                <a:cs typeface="Montserrat"/>
              </a:rPr>
              <a:t>EN LIGNE</a:t>
            </a:r>
          </a:p>
        </p:txBody>
      </p:sp>
      <p:sp>
        <p:nvSpPr>
          <p:cNvPr id="20" name="en-ligne"/>
          <p:cNvSpPr txBox="1"/>
          <p:nvPr/>
        </p:nvSpPr>
        <p:spPr>
          <a:xfrm>
            <a:off x="1207161" y="26833470"/>
            <a:ext cx="9312387" cy="167622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499"/>
              </a:lnSpc>
            </a:pPr>
            <a:r>
              <a:rPr sz="4073" b="1" i="0">
                <a:solidFill>
                  <a:srgbClr val="2A1619"/>
                </a:solidFill>
                <a:latin typeface="Montserrat"/>
                <a:cs typeface="Montserrat"/>
              </a:rPr>
              <a:t>cave71.com</a:t>
            </a:r>
          </a:p>
          <a:p>
            <a:pPr algn="l">
              <a:lnSpc>
                <a:spcPts val="3849"/>
              </a:lnSpc>
            </a:pPr>
            <a:r>
              <a:rPr sz="2851" b="0" i="0">
                <a:solidFill>
                  <a:srgbClr val="2A1619"/>
                </a:solidFill>
                <a:latin typeface="Montserrat"/>
                <a:cs typeface="Montserrat"/>
              </a:rPr>
              <a:t>contact.cave71@gmail.com</a:t>
            </a:r>
          </a:p>
          <a:p>
            <a:pPr algn="l">
              <a:lnSpc>
                <a:spcPts val="3849"/>
              </a:lnSpc>
            </a:pPr>
            <a:r>
              <a:rPr sz="2851" b="0" i="0">
                <a:solidFill>
                  <a:srgbClr val="2A1619"/>
                </a:solidFill>
                <a:latin typeface="Montserrat"/>
                <a:cs typeface="Montserrat"/>
              </a:rPr>
              <a:t>Facebook : Cave 71</a:t>
            </a:r>
          </a:p>
        </p:txBody>
      </p:sp>
      <p:sp>
        <p:nvSpPr>
          <p:cNvPr id="21" name="qr-texte"/>
          <p:cNvSpPr txBox="1"/>
          <p:nvPr/>
        </p:nvSpPr>
        <p:spPr>
          <a:xfrm>
            <a:off x="14175522" y="26454077"/>
            <a:ext cx="6035806" cy="167622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95"/>
              </a:lnSpc>
            </a:pPr>
            <a:r>
              <a:rPr sz="2579" b="1" i="0" spc="679">
                <a:solidFill>
                  <a:srgbClr val="A77A26"/>
                </a:solidFill>
                <a:latin typeface="Montserrat"/>
                <a:cs typeface="Montserrat"/>
              </a:rPr>
              <a:t>SCANNEZ-MOI</a:t>
            </a:r>
          </a:p>
          <a:p>
            <a:pPr algn="l">
              <a:lnSpc>
                <a:spcPts val="5051"/>
              </a:lnSpc>
            </a:pPr>
            <a:r>
              <a:rPr sz="4209" b="0" i="1">
                <a:solidFill>
                  <a:srgbClr val="2A1619"/>
                </a:solidFill>
                <a:latin typeface="Cormorant Garamond"/>
                <a:cs typeface="Cormorant Garamond"/>
              </a:rPr>
              <a:t>Découvrez nos vins</a:t>
            </a:r>
          </a:p>
          <a:p>
            <a:pPr algn="l">
              <a:lnSpc>
                <a:spcPts val="5051"/>
              </a:lnSpc>
            </a:pPr>
            <a:r>
              <a:rPr sz="4209" b="0" i="1">
                <a:solidFill>
                  <a:srgbClr val="7D1530"/>
                </a:solidFill>
                <a:latin typeface="Cormorant Garamond"/>
                <a:cs typeface="Cormorant Garamond"/>
              </a:rPr>
              <a:t>&amp; commandez en ligne</a:t>
            </a:r>
          </a:p>
        </p:txBody>
      </p:sp>
      <p:sp>
        <p:nvSpPr>
          <p:cNvPr id="22" name="mention-legale"/>
          <p:cNvSpPr txBox="1"/>
          <p:nvPr/>
        </p:nvSpPr>
        <p:spPr>
          <a:xfrm>
            <a:off x="0" y="29144322"/>
            <a:ext cx="21384000" cy="3104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444"/>
              </a:lnSpc>
            </a:pPr>
            <a:r>
              <a:rPr sz="2036" b="0" i="0" spc="54">
                <a:solidFill>
                  <a:srgbClr val="5E4E4D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