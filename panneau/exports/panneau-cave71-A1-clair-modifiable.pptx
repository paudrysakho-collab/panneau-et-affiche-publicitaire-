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4801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-clai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1384000" cy="30248012"/>
          </a:xfrm>
          <a:prstGeom prst="rect">
            <a:avLst/>
          </a:prstGeom>
        </p:spPr>
      </p:pic>
      <p:pic>
        <p:nvPicPr>
          <p:cNvPr id="3" name="Picture 2" descr="logo_cave71_bl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8838" y="1690025"/>
            <a:ext cx="13106322" cy="2621264"/>
          </a:xfrm>
          <a:prstGeom prst="rect">
            <a:avLst/>
          </a:prstGeom>
        </p:spPr>
      </p:pic>
      <p:sp>
        <p:nvSpPr>
          <p:cNvPr id="4" name="surtitre"/>
          <p:cNvSpPr txBox="1"/>
          <p:nvPr/>
        </p:nvSpPr>
        <p:spPr>
          <a:xfrm>
            <a:off x="0" y="758787"/>
            <a:ext cx="21384000" cy="620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888"/>
              </a:lnSpc>
            </a:pPr>
            <a:r>
              <a:rPr sz="4073" b="0" i="0" spc="951">
                <a:solidFill>
                  <a:srgbClr val="A77A26"/>
                </a:solidFill>
                <a:latin typeface="Montserrat"/>
                <a:cs typeface="Montserrat"/>
              </a:rPr>
              <a:t>VOTRE CAVISTE À REZÉ</a:t>
            </a:r>
          </a:p>
        </p:txBody>
      </p:sp>
      <p:sp>
        <p:nvSpPr>
          <p:cNvPr id="5" name="titre"/>
          <p:cNvSpPr txBox="1"/>
          <p:nvPr/>
        </p:nvSpPr>
        <p:spPr>
          <a:xfrm>
            <a:off x="0" y="5346000"/>
            <a:ext cx="21384000" cy="3862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15208"/>
              </a:lnSpc>
            </a:pPr>
            <a:r>
              <a:rPr sz="15208" b="0" i="1">
                <a:solidFill>
                  <a:srgbClr val="2A1619"/>
                </a:solidFill>
                <a:latin typeface="Cormorant Garamond"/>
                <a:cs typeface="Cormorant Garamond"/>
              </a:rPr>
              <a:t>Vins, bières, spiritueux</a:t>
            </a:r>
          </a:p>
          <a:p>
            <a:pPr algn="ctr">
              <a:lnSpc>
                <a:spcPts val="15208"/>
              </a:lnSpc>
            </a:pPr>
            <a:r>
              <a:rPr sz="15208" b="0" i="1">
                <a:solidFill>
                  <a:srgbClr val="A77A26"/>
                </a:solidFill>
                <a:latin typeface="Cormorant Garamond"/>
                <a:cs typeface="Cormorant Garamond"/>
              </a:rPr>
              <a:t>&amp; </a:t>
            </a:r>
            <a:r>
              <a:rPr sz="15208" b="0" i="1">
                <a:solidFill>
                  <a:srgbClr val="2A1619"/>
                </a:solidFill>
                <a:latin typeface="Cormorant Garamond"/>
                <a:cs typeface="Cormorant Garamond"/>
              </a:rPr>
              <a:t>épicerie fine</a:t>
            </a:r>
          </a:p>
        </p:txBody>
      </p:sp>
      <p:sp>
        <p:nvSpPr>
          <p:cNvPr id="6" name="sous-titre"/>
          <p:cNvSpPr txBox="1"/>
          <p:nvPr/>
        </p:nvSpPr>
        <p:spPr>
          <a:xfrm>
            <a:off x="0" y="9519329"/>
            <a:ext cx="21384000" cy="620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888"/>
              </a:lnSpc>
            </a:pPr>
            <a:r>
              <a:rPr sz="4073" b="0" i="0" spc="815">
                <a:solidFill>
                  <a:srgbClr val="7D1530"/>
                </a:solidFill>
                <a:latin typeface="Montserrat"/>
                <a:cs typeface="Montserrat"/>
              </a:rPr>
              <a:t>DOMAINES · DISTILLERIES · ARTISANS DU TERROIR</a:t>
            </a:r>
          </a:p>
        </p:txBody>
      </p:sp>
      <p:sp>
        <p:nvSpPr>
          <p:cNvPr id="7" name="services-titre"/>
          <p:cNvSpPr txBox="1"/>
          <p:nvPr/>
        </p:nvSpPr>
        <p:spPr>
          <a:xfrm>
            <a:off x="6380709" y="20970116"/>
            <a:ext cx="8622580" cy="66221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214"/>
              </a:lnSpc>
            </a:pPr>
            <a:r>
              <a:rPr sz="4345" b="1" i="0" spc="951">
                <a:solidFill>
                  <a:srgbClr val="A77A26"/>
                </a:solidFill>
                <a:latin typeface="Montserrat"/>
                <a:cs typeface="Montserrat"/>
              </a:rPr>
              <a:t>À LA CAVE 71</a:t>
            </a:r>
          </a:p>
        </p:txBody>
      </p:sp>
      <p:sp>
        <p:nvSpPr>
          <p:cNvPr id="8" name="service-1"/>
          <p:cNvSpPr txBox="1"/>
          <p:nvPr/>
        </p:nvSpPr>
        <p:spPr>
          <a:xfrm>
            <a:off x="689806" y="22867083"/>
            <a:ext cx="3380051" cy="1269243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621"/>
              </a:lnSpc>
            </a:pPr>
            <a:r>
              <a:rPr sz="4888" b="1" i="0">
                <a:solidFill>
                  <a:srgbClr val="2A1619"/>
                </a:solidFill>
                <a:latin typeface="Cormorant Garamond"/>
                <a:cs typeface="Cormorant Garamond"/>
              </a:rPr>
              <a:t>Coffrets</a:t>
            </a:r>
          </a:p>
          <a:p>
            <a:pPr algn="ctr">
              <a:lnSpc>
                <a:spcPts val="4372"/>
              </a:lnSpc>
            </a:pPr>
            <a:r>
              <a:rPr sz="3802" b="0" i="1">
                <a:solidFill>
                  <a:srgbClr val="7D1530"/>
                </a:solidFill>
                <a:latin typeface="Cormorant Garamond"/>
                <a:cs typeface="Cormorant Garamond"/>
              </a:rPr>
              <a:t>&amp; idées cadeaux</a:t>
            </a:r>
          </a:p>
        </p:txBody>
      </p:sp>
      <p:sp>
        <p:nvSpPr>
          <p:cNvPr id="9" name="service-2"/>
          <p:cNvSpPr txBox="1"/>
          <p:nvPr/>
        </p:nvSpPr>
        <p:spPr>
          <a:xfrm>
            <a:off x="4069858" y="22867083"/>
            <a:ext cx="3380051" cy="1269243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621"/>
              </a:lnSpc>
            </a:pPr>
            <a:r>
              <a:rPr sz="4888" b="1" i="0">
                <a:solidFill>
                  <a:srgbClr val="2A1619"/>
                </a:solidFill>
                <a:latin typeface="Cormorant Garamond"/>
                <a:cs typeface="Cormorant Garamond"/>
              </a:rPr>
              <a:t>Soirées</a:t>
            </a:r>
          </a:p>
          <a:p>
            <a:pPr algn="ctr">
              <a:lnSpc>
                <a:spcPts val="4372"/>
              </a:lnSpc>
            </a:pPr>
            <a:r>
              <a:rPr sz="3802" b="0" i="1">
                <a:solidFill>
                  <a:srgbClr val="7D1530"/>
                </a:solidFill>
                <a:latin typeface="Cormorant Garamond"/>
                <a:cs typeface="Cormorant Garamond"/>
              </a:rPr>
              <a:t>œnologiques</a:t>
            </a:r>
          </a:p>
        </p:txBody>
      </p:sp>
      <p:sp>
        <p:nvSpPr>
          <p:cNvPr id="10" name="service-3"/>
          <p:cNvSpPr txBox="1"/>
          <p:nvPr/>
        </p:nvSpPr>
        <p:spPr>
          <a:xfrm>
            <a:off x="7449909" y="22867083"/>
            <a:ext cx="4759664" cy="1269243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621"/>
              </a:lnSpc>
            </a:pPr>
            <a:r>
              <a:rPr sz="4888" b="1" i="0">
                <a:solidFill>
                  <a:srgbClr val="2A1619"/>
                </a:solidFill>
                <a:latin typeface="Cormorant Garamond"/>
                <a:cs typeface="Cormorant Garamond"/>
              </a:rPr>
              <a:t>Achat &amp; conseil</a:t>
            </a:r>
          </a:p>
          <a:p>
            <a:pPr algn="ctr">
              <a:lnSpc>
                <a:spcPts val="4372"/>
              </a:lnSpc>
            </a:pPr>
            <a:r>
              <a:rPr sz="3802" b="0" i="1">
                <a:solidFill>
                  <a:srgbClr val="7D1530"/>
                </a:solidFill>
                <a:latin typeface="Cormorant Garamond"/>
                <a:cs typeface="Cormorant Garamond"/>
              </a:rPr>
              <a:t>en magasin</a:t>
            </a:r>
          </a:p>
        </p:txBody>
      </p:sp>
      <p:sp>
        <p:nvSpPr>
          <p:cNvPr id="11" name="service-4"/>
          <p:cNvSpPr txBox="1"/>
          <p:nvPr/>
        </p:nvSpPr>
        <p:spPr>
          <a:xfrm>
            <a:off x="12209574" y="22867083"/>
            <a:ext cx="4414761" cy="1269243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621"/>
              </a:lnSpc>
            </a:pPr>
            <a:r>
              <a:rPr sz="4888" b="1" i="0">
                <a:solidFill>
                  <a:srgbClr val="2A1619"/>
                </a:solidFill>
                <a:latin typeface="Cormorant Garamond"/>
                <a:cs typeface="Cormorant Garamond"/>
              </a:rPr>
              <a:t>Carte des vins</a:t>
            </a:r>
          </a:p>
          <a:p>
            <a:pPr algn="ctr">
              <a:lnSpc>
                <a:spcPts val="4372"/>
              </a:lnSpc>
            </a:pPr>
            <a:r>
              <a:rPr sz="3802" b="0" i="1">
                <a:solidFill>
                  <a:srgbClr val="7D1530"/>
                </a:solidFill>
                <a:latin typeface="Cormorant Garamond"/>
                <a:cs typeface="Cormorant Garamond"/>
              </a:rPr>
              <a:t>pour les pros</a:t>
            </a:r>
          </a:p>
        </p:txBody>
      </p:sp>
      <p:sp>
        <p:nvSpPr>
          <p:cNvPr id="12" name="service-5"/>
          <p:cNvSpPr txBox="1"/>
          <p:nvPr/>
        </p:nvSpPr>
        <p:spPr>
          <a:xfrm>
            <a:off x="16624335" y="22867083"/>
            <a:ext cx="4069858" cy="1269243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621"/>
              </a:lnSpc>
            </a:pPr>
            <a:r>
              <a:rPr sz="4888" b="1" i="0">
                <a:solidFill>
                  <a:srgbClr val="2A1619"/>
                </a:solidFill>
                <a:latin typeface="Cormorant Garamond"/>
                <a:cs typeface="Cormorant Garamond"/>
              </a:rPr>
              <a:t>Célébrations</a:t>
            </a:r>
          </a:p>
          <a:p>
            <a:pPr algn="ctr">
              <a:lnSpc>
                <a:spcPts val="4372"/>
              </a:lnSpc>
            </a:pPr>
            <a:r>
              <a:rPr sz="3802" b="0" i="1">
                <a:solidFill>
                  <a:srgbClr val="7D1530"/>
                </a:solidFill>
                <a:latin typeface="Cormorant Garamond"/>
                <a:cs typeface="Cormorant Garamond"/>
              </a:rPr>
              <a:t>&amp; mariages</a:t>
            </a:r>
          </a:p>
        </p:txBody>
      </p:sp>
      <p:sp>
        <p:nvSpPr>
          <p:cNvPr id="13" name="adresse-titre"/>
          <p:cNvSpPr txBox="1"/>
          <p:nvPr/>
        </p:nvSpPr>
        <p:spPr>
          <a:xfrm>
            <a:off x="689806" y="25315896"/>
            <a:ext cx="8795032" cy="53804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236"/>
              </a:lnSpc>
            </a:pPr>
            <a:r>
              <a:rPr sz="3530" b="1" i="0" spc="543">
                <a:solidFill>
                  <a:srgbClr val="A77A26"/>
                </a:solidFill>
                <a:latin typeface="Montserrat"/>
                <a:cs typeface="Montserrat"/>
              </a:rPr>
              <a:t>NOUS TROUVER</a:t>
            </a:r>
          </a:p>
        </p:txBody>
      </p:sp>
      <p:sp>
        <p:nvSpPr>
          <p:cNvPr id="14" name="adresse"/>
          <p:cNvSpPr txBox="1"/>
          <p:nvPr/>
        </p:nvSpPr>
        <p:spPr>
          <a:xfrm>
            <a:off x="689806" y="25953967"/>
            <a:ext cx="8795032" cy="163829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6449"/>
              </a:lnSpc>
            </a:pPr>
            <a:r>
              <a:rPr sz="5159" b="0" i="0">
                <a:solidFill>
                  <a:srgbClr val="2A1619"/>
                </a:solidFill>
                <a:latin typeface="Montserrat"/>
                <a:cs typeface="Montserrat"/>
              </a:rPr>
              <a:t>71 avenue de la Libération</a:t>
            </a:r>
          </a:p>
          <a:p>
            <a:pPr algn="ctr">
              <a:lnSpc>
                <a:spcPts val="6449"/>
              </a:lnSpc>
            </a:pPr>
            <a:r>
              <a:rPr sz="5159" b="0" i="0">
                <a:solidFill>
                  <a:srgbClr val="2A1619"/>
                </a:solidFill>
                <a:latin typeface="Montserrat"/>
                <a:cs typeface="Montserrat"/>
              </a:rPr>
              <a:t>44400 Rezé</a:t>
            </a:r>
          </a:p>
        </p:txBody>
      </p:sp>
      <p:sp>
        <p:nvSpPr>
          <p:cNvPr id="15" name="adresse-precision"/>
          <p:cNvSpPr txBox="1"/>
          <p:nvPr/>
        </p:nvSpPr>
        <p:spPr>
          <a:xfrm>
            <a:off x="689806" y="27695729"/>
            <a:ext cx="8795032" cy="49666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910"/>
              </a:lnSpc>
            </a:pPr>
            <a:r>
              <a:rPr sz="3258" b="0" i="0">
                <a:solidFill>
                  <a:srgbClr val="7D1530"/>
                </a:solidFill>
                <a:latin typeface="Montserrat"/>
                <a:cs typeface="Montserrat"/>
              </a:rPr>
              <a:t>En face du parking et du tram du 8 Mai</a:t>
            </a:r>
          </a:p>
        </p:txBody>
      </p:sp>
      <p:sp>
        <p:nvSpPr>
          <p:cNvPr id="16" name="horaires-titre"/>
          <p:cNvSpPr txBox="1"/>
          <p:nvPr/>
        </p:nvSpPr>
        <p:spPr>
          <a:xfrm>
            <a:off x="9657290" y="25315896"/>
            <a:ext cx="7242967" cy="53804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236"/>
              </a:lnSpc>
            </a:pPr>
            <a:r>
              <a:rPr sz="3530" b="1" i="0" spc="407">
                <a:solidFill>
                  <a:srgbClr val="A77A26"/>
                </a:solidFill>
                <a:latin typeface="Montserrat"/>
                <a:cs typeface="Montserrat"/>
              </a:rPr>
              <a:t>DU MARDI AU SAMEDI</a:t>
            </a:r>
          </a:p>
        </p:txBody>
      </p:sp>
      <p:sp>
        <p:nvSpPr>
          <p:cNvPr id="17" name="telephone"/>
          <p:cNvSpPr txBox="1"/>
          <p:nvPr/>
        </p:nvSpPr>
        <p:spPr>
          <a:xfrm>
            <a:off x="9657290" y="25953967"/>
            <a:ext cx="7242967" cy="11174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8799"/>
              </a:lnSpc>
            </a:pPr>
            <a:r>
              <a:rPr sz="7332" b="1" i="0" spc="204">
                <a:solidFill>
                  <a:srgbClr val="2A1619"/>
                </a:solidFill>
                <a:latin typeface="Montserrat"/>
                <a:cs typeface="Montserrat"/>
              </a:rPr>
              <a:t>02 49 62 66 45</a:t>
            </a:r>
          </a:p>
        </p:txBody>
      </p:sp>
      <p:sp>
        <p:nvSpPr>
          <p:cNvPr id="18" name="en-ligne"/>
          <p:cNvSpPr txBox="1"/>
          <p:nvPr/>
        </p:nvSpPr>
        <p:spPr>
          <a:xfrm>
            <a:off x="9657290" y="27316335"/>
            <a:ext cx="7242967" cy="78637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6191"/>
              </a:lnSpc>
            </a:pPr>
            <a:r>
              <a:rPr sz="5159" b="0" i="0">
                <a:solidFill>
                  <a:srgbClr val="2A1619"/>
                </a:solidFill>
                <a:latin typeface="Montserrat"/>
                <a:cs typeface="Montserrat"/>
              </a:rPr>
              <a:t>cave71.com</a:t>
            </a:r>
          </a:p>
        </p:txBody>
      </p:sp>
      <p:sp>
        <p:nvSpPr>
          <p:cNvPr id="19" name="qr-texte"/>
          <p:cNvSpPr txBox="1"/>
          <p:nvPr/>
        </p:nvSpPr>
        <p:spPr>
          <a:xfrm>
            <a:off x="17227916" y="28282064"/>
            <a:ext cx="3621483" cy="49666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910"/>
              </a:lnSpc>
            </a:pPr>
            <a:r>
              <a:rPr sz="3258" b="1" i="0" spc="543">
                <a:solidFill>
                  <a:srgbClr val="A77A26"/>
                </a:solidFill>
                <a:latin typeface="Montserrat"/>
                <a:cs typeface="Montserrat"/>
              </a:rPr>
              <a:t>SCANNEZ-MOI</a:t>
            </a:r>
          </a:p>
        </p:txBody>
      </p:sp>
      <p:sp>
        <p:nvSpPr>
          <p:cNvPr id="20" name="mention-legale"/>
          <p:cNvSpPr txBox="1"/>
          <p:nvPr/>
        </p:nvSpPr>
        <p:spPr>
          <a:xfrm>
            <a:off x="0" y="29075341"/>
            <a:ext cx="21384000" cy="413883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258"/>
              </a:lnSpc>
            </a:pPr>
            <a:r>
              <a:rPr sz="2715" b="0" i="0" spc="54">
                <a:solidFill>
                  <a:srgbClr val="5E4E4D"/>
                </a:solidFill>
                <a:latin typeface="Montserrat"/>
                <a:cs typeface="Montserrat"/>
              </a:rPr>
              <a:t>L’abus d’alcool est dangereux pour la santé, à consommer avec modération.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