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480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cl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48012"/>
          </a:xfrm>
          <a:prstGeom prst="rect">
            <a:avLst/>
          </a:prstGeom>
        </p:spPr>
      </p:pic>
      <p:pic>
        <p:nvPicPr>
          <p:cNvPr id="3" name="Picture 2" descr="logo_cave71_bl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838" y="1690025"/>
            <a:ext cx="13106322" cy="2621264"/>
          </a:xfrm>
          <a:prstGeom prst="rect">
            <a:avLst/>
          </a:prstGeom>
        </p:spPr>
      </p:pic>
      <p:sp>
        <p:nvSpPr>
          <p:cNvPr id="4" name="surtitre"/>
          <p:cNvSpPr txBox="1"/>
          <p:nvPr/>
        </p:nvSpPr>
        <p:spPr>
          <a:xfrm>
            <a:off x="0" y="1034709"/>
            <a:ext cx="21384000" cy="35180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70"/>
              </a:lnSpc>
            </a:pPr>
            <a:r>
              <a:rPr sz="2308" b="0" i="0" spc="679">
                <a:solidFill>
                  <a:srgbClr val="A77A26"/>
                </a:solidFill>
                <a:latin typeface="Montserrat"/>
                <a:cs typeface="Montserrat"/>
              </a:rPr>
              <a:t>VOTRE CAVISTE À REZÉ</a:t>
            </a:r>
          </a:p>
        </p:txBody>
      </p:sp>
      <p:sp>
        <p:nvSpPr>
          <p:cNvPr id="5" name="titre"/>
          <p:cNvSpPr txBox="1"/>
          <p:nvPr/>
        </p:nvSpPr>
        <p:spPr>
          <a:xfrm>
            <a:off x="0" y="4449251"/>
            <a:ext cx="21384000" cy="16210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2764"/>
              </a:lnSpc>
            </a:pPr>
            <a:r>
              <a:rPr sz="12764" b="0" i="1">
                <a:solidFill>
                  <a:srgbClr val="2A1619"/>
                </a:solidFill>
                <a:latin typeface="Cormorant Garamond"/>
                <a:cs typeface="Cormorant Garamond"/>
              </a:rPr>
              <a:t>Vins, spiritueux </a:t>
            </a:r>
            <a:r>
              <a:rPr sz="12764" b="0" i="1">
                <a:solidFill>
                  <a:srgbClr val="A77A26"/>
                </a:solidFill>
                <a:latin typeface="Cormorant Garamond"/>
                <a:cs typeface="Cormorant Garamond"/>
              </a:rPr>
              <a:t>&amp;</a:t>
            </a:r>
            <a:r>
              <a:rPr sz="12764" b="0" i="1">
                <a:solidFill>
                  <a:srgbClr val="2A1619"/>
                </a:solidFill>
                <a:latin typeface="Cormorant Garamond"/>
                <a:cs typeface="Cormorant Garamond"/>
              </a:rPr>
              <a:t> épicerie fine</a:t>
            </a:r>
          </a:p>
        </p:txBody>
      </p:sp>
      <p:sp>
        <p:nvSpPr>
          <p:cNvPr id="6" name="sous-titre"/>
          <p:cNvSpPr txBox="1"/>
          <p:nvPr/>
        </p:nvSpPr>
        <p:spPr>
          <a:xfrm>
            <a:off x="0" y="6346219"/>
            <a:ext cx="21384000" cy="47596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747"/>
              </a:lnSpc>
            </a:pPr>
            <a:r>
              <a:rPr sz="3123" b="0" i="0" spc="815">
                <a:solidFill>
                  <a:srgbClr val="7D1530"/>
                </a:solidFill>
                <a:latin typeface="Montserrat"/>
                <a:cs typeface="Montserrat"/>
              </a:rPr>
              <a:t>DOMAINES · DISTILLERIES · ARTISANS DU TERROIR</a:t>
            </a:r>
          </a:p>
        </p:txBody>
      </p:sp>
      <p:sp>
        <p:nvSpPr>
          <p:cNvPr id="7" name="services-titre"/>
          <p:cNvSpPr txBox="1"/>
          <p:nvPr/>
        </p:nvSpPr>
        <p:spPr>
          <a:xfrm>
            <a:off x="6380709" y="18866206"/>
            <a:ext cx="8622580" cy="45527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584"/>
              </a:lnSpc>
            </a:pPr>
            <a:r>
              <a:rPr sz="2987" b="1" i="0" spc="815">
                <a:solidFill>
                  <a:srgbClr val="A77A26"/>
                </a:solidFill>
                <a:latin typeface="Montserrat"/>
                <a:cs typeface="Montserrat"/>
              </a:rPr>
              <a:t>À LA CAVE 71</a:t>
            </a:r>
          </a:p>
        </p:txBody>
      </p:sp>
      <p:sp>
        <p:nvSpPr>
          <p:cNvPr id="8" name="service-1"/>
          <p:cNvSpPr txBox="1"/>
          <p:nvPr/>
        </p:nvSpPr>
        <p:spPr>
          <a:xfrm>
            <a:off x="1207161" y="20935625"/>
            <a:ext cx="3793935" cy="10907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684"/>
              </a:lnSpc>
            </a:pPr>
            <a:r>
              <a:rPr sz="4073" b="1" i="0">
                <a:solidFill>
                  <a:srgbClr val="2A1619"/>
                </a:solidFill>
                <a:latin typeface="Cormorant Garamond"/>
                <a:cs typeface="Cormorant Garamond"/>
              </a:rPr>
              <a:t>Coffrets</a:t>
            </a:r>
          </a:p>
          <a:p>
            <a:pPr algn="ctr">
              <a:lnSpc>
                <a:spcPts val="3903"/>
              </a:lnSpc>
            </a:pPr>
            <a:r>
              <a:rPr sz="3394" b="0" i="1">
                <a:solidFill>
                  <a:srgbClr val="7D1530"/>
                </a:solidFill>
                <a:latin typeface="Cormorant Garamond"/>
                <a:cs typeface="Cormorant Garamond"/>
              </a:rPr>
              <a:t>&amp; idées cadeaux</a:t>
            </a:r>
          </a:p>
        </p:txBody>
      </p:sp>
      <p:sp>
        <p:nvSpPr>
          <p:cNvPr id="9" name="service-2"/>
          <p:cNvSpPr txBox="1"/>
          <p:nvPr/>
        </p:nvSpPr>
        <p:spPr>
          <a:xfrm>
            <a:off x="5001096" y="20935625"/>
            <a:ext cx="3793935" cy="10907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684"/>
              </a:lnSpc>
            </a:pPr>
            <a:r>
              <a:rPr sz="4073" b="1" i="0">
                <a:solidFill>
                  <a:srgbClr val="2A1619"/>
                </a:solidFill>
                <a:latin typeface="Cormorant Garamond"/>
                <a:cs typeface="Cormorant Garamond"/>
              </a:rPr>
              <a:t>Soirées</a:t>
            </a:r>
          </a:p>
          <a:p>
            <a:pPr algn="ctr">
              <a:lnSpc>
                <a:spcPts val="3903"/>
              </a:lnSpc>
            </a:pPr>
            <a:r>
              <a:rPr sz="3394" b="0" i="1">
                <a:solidFill>
                  <a:srgbClr val="7D1530"/>
                </a:solidFill>
                <a:latin typeface="Cormorant Garamond"/>
                <a:cs typeface="Cormorant Garamond"/>
              </a:rPr>
              <a:t>œnologiques</a:t>
            </a:r>
          </a:p>
        </p:txBody>
      </p:sp>
      <p:sp>
        <p:nvSpPr>
          <p:cNvPr id="10" name="service-3"/>
          <p:cNvSpPr txBox="1"/>
          <p:nvPr/>
        </p:nvSpPr>
        <p:spPr>
          <a:xfrm>
            <a:off x="8795032" y="20935625"/>
            <a:ext cx="3793935" cy="10907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684"/>
              </a:lnSpc>
            </a:pPr>
            <a:r>
              <a:rPr sz="4073" b="1" i="0">
                <a:solidFill>
                  <a:srgbClr val="2A1619"/>
                </a:solidFill>
                <a:latin typeface="Cormorant Garamond"/>
                <a:cs typeface="Cormorant Garamond"/>
              </a:rPr>
              <a:t>Achat &amp; conseil</a:t>
            </a:r>
          </a:p>
          <a:p>
            <a:pPr algn="ctr">
              <a:lnSpc>
                <a:spcPts val="3903"/>
              </a:lnSpc>
            </a:pPr>
            <a:r>
              <a:rPr sz="3394" b="0" i="1">
                <a:solidFill>
                  <a:srgbClr val="7D1530"/>
                </a:solidFill>
                <a:latin typeface="Cormorant Garamond"/>
                <a:cs typeface="Cormorant Garamond"/>
              </a:rPr>
              <a:t>en magasin</a:t>
            </a:r>
          </a:p>
        </p:txBody>
      </p:sp>
      <p:sp>
        <p:nvSpPr>
          <p:cNvPr id="11" name="service-4"/>
          <p:cNvSpPr txBox="1"/>
          <p:nvPr/>
        </p:nvSpPr>
        <p:spPr>
          <a:xfrm>
            <a:off x="12588967" y="20935625"/>
            <a:ext cx="3793935" cy="10907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684"/>
              </a:lnSpc>
            </a:pPr>
            <a:r>
              <a:rPr sz="4073" b="1" i="0">
                <a:solidFill>
                  <a:srgbClr val="2A1619"/>
                </a:solidFill>
                <a:latin typeface="Cormorant Garamond"/>
                <a:cs typeface="Cormorant Garamond"/>
              </a:rPr>
              <a:t>Carte des vins</a:t>
            </a:r>
          </a:p>
          <a:p>
            <a:pPr algn="ctr">
              <a:lnSpc>
                <a:spcPts val="3903"/>
              </a:lnSpc>
            </a:pPr>
            <a:r>
              <a:rPr sz="3394" b="0" i="1">
                <a:solidFill>
                  <a:srgbClr val="7D1530"/>
                </a:solidFill>
                <a:latin typeface="Cormorant Garamond"/>
                <a:cs typeface="Cormorant Garamond"/>
              </a:rPr>
              <a:t>pour les pros</a:t>
            </a:r>
          </a:p>
        </p:txBody>
      </p:sp>
      <p:sp>
        <p:nvSpPr>
          <p:cNvPr id="12" name="service-5"/>
          <p:cNvSpPr txBox="1"/>
          <p:nvPr/>
        </p:nvSpPr>
        <p:spPr>
          <a:xfrm>
            <a:off x="16382903" y="20935625"/>
            <a:ext cx="3793935" cy="10907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684"/>
              </a:lnSpc>
            </a:pPr>
            <a:r>
              <a:rPr sz="4073" b="1" i="0">
                <a:solidFill>
                  <a:srgbClr val="2A1619"/>
                </a:solidFill>
                <a:latin typeface="Cormorant Garamond"/>
                <a:cs typeface="Cormorant Garamond"/>
              </a:rPr>
              <a:t>Célébrations</a:t>
            </a:r>
          </a:p>
          <a:p>
            <a:pPr algn="ctr">
              <a:lnSpc>
                <a:spcPts val="3903"/>
              </a:lnSpc>
            </a:pPr>
            <a:r>
              <a:rPr sz="3394" b="0" i="1">
                <a:solidFill>
                  <a:srgbClr val="7D1530"/>
                </a:solidFill>
                <a:latin typeface="Cormorant Garamond"/>
                <a:cs typeface="Cormorant Garamond"/>
              </a:rPr>
              <a:t>&amp; mariages</a:t>
            </a:r>
          </a:p>
        </p:txBody>
      </p:sp>
      <p:sp>
        <p:nvSpPr>
          <p:cNvPr id="13" name="adresse-titre"/>
          <p:cNvSpPr txBox="1"/>
          <p:nvPr/>
        </p:nvSpPr>
        <p:spPr>
          <a:xfrm>
            <a:off x="1207161" y="23384438"/>
            <a:ext cx="9312387" cy="3311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607"/>
              </a:lnSpc>
            </a:pPr>
            <a:r>
              <a:rPr sz="2172" b="1" i="0" spc="543">
                <a:solidFill>
                  <a:srgbClr val="A77A26"/>
                </a:solidFill>
                <a:latin typeface="Montserrat"/>
                <a:cs typeface="Montserrat"/>
              </a:rPr>
              <a:t>NOUS TROUVER</a:t>
            </a:r>
          </a:p>
        </p:txBody>
      </p:sp>
      <p:sp>
        <p:nvSpPr>
          <p:cNvPr id="14" name="adresse"/>
          <p:cNvSpPr txBox="1"/>
          <p:nvPr/>
        </p:nvSpPr>
        <p:spPr>
          <a:xfrm>
            <a:off x="1207161" y="23867303"/>
            <a:ext cx="9312387" cy="116404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582"/>
              </a:lnSpc>
            </a:pPr>
            <a:r>
              <a:rPr sz="3666" b="0" i="0">
                <a:solidFill>
                  <a:srgbClr val="2A1619"/>
                </a:solidFill>
                <a:latin typeface="Montserrat"/>
                <a:cs typeface="Montserrat"/>
              </a:rPr>
              <a:t>71 avenue de la Libération</a:t>
            </a:r>
          </a:p>
          <a:p>
            <a:pPr algn="l">
              <a:lnSpc>
                <a:spcPts val="4582"/>
              </a:lnSpc>
            </a:pPr>
            <a:r>
              <a:rPr sz="3666" b="0" i="0">
                <a:solidFill>
                  <a:srgbClr val="2A1619"/>
                </a:solidFill>
                <a:latin typeface="Montserrat"/>
                <a:cs typeface="Montserrat"/>
              </a:rPr>
              <a:t>44400 Rezé</a:t>
            </a:r>
          </a:p>
        </p:txBody>
      </p:sp>
      <p:sp>
        <p:nvSpPr>
          <p:cNvPr id="15" name="adresse-precision"/>
          <p:cNvSpPr txBox="1"/>
          <p:nvPr/>
        </p:nvSpPr>
        <p:spPr>
          <a:xfrm>
            <a:off x="1207161" y="25212425"/>
            <a:ext cx="9312387" cy="35180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770"/>
              </a:lnSpc>
            </a:pPr>
            <a:r>
              <a:rPr sz="2308" b="0" i="0">
                <a:solidFill>
                  <a:srgbClr val="7D1530"/>
                </a:solidFill>
                <a:latin typeface="Montserrat"/>
                <a:cs typeface="Montserrat"/>
              </a:rPr>
              <a:t>En face du parking et du tram du 8 Mai</a:t>
            </a:r>
          </a:p>
        </p:txBody>
      </p:sp>
      <p:sp>
        <p:nvSpPr>
          <p:cNvPr id="16" name="horaires-titre"/>
          <p:cNvSpPr txBox="1"/>
          <p:nvPr/>
        </p:nvSpPr>
        <p:spPr>
          <a:xfrm>
            <a:off x="11468032" y="23384438"/>
            <a:ext cx="8795032" cy="3311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607"/>
              </a:lnSpc>
            </a:pPr>
            <a:r>
              <a:rPr sz="2172" b="1" i="0" spc="543">
                <a:solidFill>
                  <a:srgbClr val="A77A26"/>
                </a:solidFill>
                <a:latin typeface="Montserrat"/>
                <a:cs typeface="Montserrat"/>
              </a:rPr>
              <a:t>DU MARDI AU SAMEDI</a:t>
            </a:r>
          </a:p>
        </p:txBody>
      </p:sp>
      <p:sp>
        <p:nvSpPr>
          <p:cNvPr id="17" name="horaires"/>
          <p:cNvSpPr txBox="1"/>
          <p:nvPr/>
        </p:nvSpPr>
        <p:spPr>
          <a:xfrm>
            <a:off x="11468032" y="23867303"/>
            <a:ext cx="8795032" cy="5587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399"/>
              </a:lnSpc>
            </a:pPr>
            <a:r>
              <a:rPr sz="3666" b="0" i="0">
                <a:solidFill>
                  <a:srgbClr val="2A1619"/>
                </a:solidFill>
                <a:latin typeface="Montserrat"/>
                <a:cs typeface="Montserrat"/>
              </a:rPr>
              <a:t>10h – 13h </a:t>
            </a:r>
            <a:r>
              <a:rPr sz="3666" b="0" i="0">
                <a:solidFill>
                  <a:srgbClr val="A77A26"/>
                </a:solidFill>
                <a:latin typeface="Montserrat"/>
                <a:cs typeface="Montserrat"/>
              </a:rPr>
              <a:t>·</a:t>
            </a:r>
            <a:r>
              <a:rPr sz="3666" b="0" i="0">
                <a:solidFill>
                  <a:srgbClr val="2A1619"/>
                </a:solidFill>
                <a:latin typeface="Montserrat"/>
                <a:cs typeface="Montserrat"/>
              </a:rPr>
              <a:t> 15h30 – 19h30</a:t>
            </a:r>
          </a:p>
        </p:txBody>
      </p:sp>
      <p:sp>
        <p:nvSpPr>
          <p:cNvPr id="18" name="telephone"/>
          <p:cNvSpPr txBox="1"/>
          <p:nvPr/>
        </p:nvSpPr>
        <p:spPr>
          <a:xfrm>
            <a:off x="11468032" y="24557109"/>
            <a:ext cx="8795032" cy="91054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7169"/>
              </a:lnSpc>
            </a:pPr>
            <a:r>
              <a:rPr sz="5974" b="1" i="0" spc="204">
                <a:solidFill>
                  <a:srgbClr val="2A1619"/>
                </a:solidFill>
                <a:latin typeface="Montserrat"/>
                <a:cs typeface="Montserrat"/>
              </a:rPr>
              <a:t>02 49 62 66 45</a:t>
            </a:r>
          </a:p>
        </p:txBody>
      </p:sp>
      <p:sp>
        <p:nvSpPr>
          <p:cNvPr id="19" name="en-ligne-titre"/>
          <p:cNvSpPr txBox="1"/>
          <p:nvPr/>
        </p:nvSpPr>
        <p:spPr>
          <a:xfrm>
            <a:off x="1207161" y="26316116"/>
            <a:ext cx="9312387" cy="3311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607"/>
              </a:lnSpc>
            </a:pPr>
            <a:r>
              <a:rPr sz="2172" b="1" i="0" spc="543">
                <a:solidFill>
                  <a:srgbClr val="A77A26"/>
                </a:solidFill>
                <a:latin typeface="Montserrat"/>
                <a:cs typeface="Montserrat"/>
              </a:rPr>
              <a:t>EN LIGNE</a:t>
            </a:r>
          </a:p>
        </p:txBody>
      </p:sp>
      <p:sp>
        <p:nvSpPr>
          <p:cNvPr id="20" name="en-ligne"/>
          <p:cNvSpPr txBox="1"/>
          <p:nvPr/>
        </p:nvSpPr>
        <p:spPr>
          <a:xfrm>
            <a:off x="1207161" y="26798980"/>
            <a:ext cx="9312387" cy="1496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942"/>
              </a:lnSpc>
            </a:pPr>
            <a:r>
              <a:rPr sz="3530" b="0" i="0">
                <a:solidFill>
                  <a:srgbClr val="2A1619"/>
                </a:solidFill>
                <a:latin typeface="Montserrat"/>
                <a:cs typeface="Montserrat"/>
              </a:rPr>
              <a:t>cave71.com</a:t>
            </a:r>
          </a:p>
          <a:p>
            <a:pPr algn="l">
              <a:lnSpc>
                <a:spcPts val="3421"/>
              </a:lnSpc>
            </a:pPr>
            <a:r>
              <a:rPr sz="2444" b="0" i="0">
                <a:solidFill>
                  <a:srgbClr val="5E4E4D"/>
                </a:solidFill>
                <a:latin typeface="Montserrat"/>
                <a:cs typeface="Montserrat"/>
              </a:rPr>
              <a:t>contact.cave71@gmail.com</a:t>
            </a:r>
          </a:p>
          <a:p>
            <a:pPr algn="l">
              <a:lnSpc>
                <a:spcPts val="3421"/>
              </a:lnSpc>
            </a:pPr>
            <a:r>
              <a:rPr sz="2444" b="0" i="0">
                <a:solidFill>
                  <a:srgbClr val="5E4E4D"/>
                </a:solidFill>
                <a:latin typeface="Montserrat"/>
                <a:cs typeface="Montserrat"/>
              </a:rPr>
              <a:t>Facebook : Cave 71</a:t>
            </a:r>
          </a:p>
        </p:txBody>
      </p:sp>
      <p:sp>
        <p:nvSpPr>
          <p:cNvPr id="21" name="qr-texte"/>
          <p:cNvSpPr txBox="1"/>
          <p:nvPr/>
        </p:nvSpPr>
        <p:spPr>
          <a:xfrm>
            <a:off x="14175522" y="26454077"/>
            <a:ext cx="6035806" cy="148998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607"/>
              </a:lnSpc>
            </a:pPr>
            <a:r>
              <a:rPr sz="2172" b="1" i="0" spc="543">
                <a:solidFill>
                  <a:srgbClr val="A77A26"/>
                </a:solidFill>
                <a:latin typeface="Montserrat"/>
                <a:cs typeface="Montserrat"/>
              </a:rPr>
              <a:t>SCANNEZ-MOI</a:t>
            </a:r>
          </a:p>
          <a:p>
            <a:pPr algn="l">
              <a:lnSpc>
                <a:spcPts val="4562"/>
              </a:lnSpc>
            </a:pPr>
            <a:r>
              <a:rPr sz="3802" b="0" i="1">
                <a:solidFill>
                  <a:srgbClr val="2A1619"/>
                </a:solidFill>
                <a:latin typeface="Cormorant Garamond"/>
                <a:cs typeface="Cormorant Garamond"/>
              </a:rPr>
              <a:t>Découvrez nos vins</a:t>
            </a:r>
          </a:p>
          <a:p>
            <a:pPr algn="l">
              <a:lnSpc>
                <a:spcPts val="4562"/>
              </a:lnSpc>
            </a:pPr>
            <a:r>
              <a:rPr sz="3802" b="0" i="1">
                <a:solidFill>
                  <a:srgbClr val="7D1530"/>
                </a:solidFill>
                <a:latin typeface="Cormorant Garamond"/>
                <a:cs typeface="Cormorant Garamond"/>
              </a:rPr>
              <a:t>&amp; commandez en ligne</a:t>
            </a:r>
          </a:p>
        </p:txBody>
      </p:sp>
      <p:sp>
        <p:nvSpPr>
          <p:cNvPr id="22" name="mention-legale"/>
          <p:cNvSpPr txBox="1"/>
          <p:nvPr/>
        </p:nvSpPr>
        <p:spPr>
          <a:xfrm>
            <a:off x="0" y="29144322"/>
            <a:ext cx="21384000" cy="31041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444"/>
              </a:lnSpc>
            </a:pPr>
            <a:r>
              <a:rPr sz="2036" b="0" i="0" spc="54">
                <a:solidFill>
                  <a:srgbClr val="5E4E4D"/>
                </a:solidFill>
                <a:latin typeface="Montserrat"/>
                <a:cs typeface="Montserrat"/>
              </a:rPr>
              <a:t>L’abus d’alcool est dangereux pour la santé, à consommer avec modération.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